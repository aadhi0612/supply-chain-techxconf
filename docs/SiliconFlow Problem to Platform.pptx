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Default Extension="fntdata" ContentType="application/x-fontdata"/>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embeddedFontLst>
    <p:embeddedFont>
      <p:font typeface="Space Grotesk" pitchFamily="34" charset="0"/>
      <p:regular r:id="rId27"/>
      <p:bold r:id="rId28"/>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 Id="rId27" Type="http://schemas.openxmlformats.org/officeDocument/2006/relationships/font" Target="fonts/font1.fntdata"/><Relationship Id="rId28"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one-line promise: when a supplier changes a packaging slot, a lot goes on hold or an export rule moves, SiliconFlow says what is at risk, what the options are, and leaves a record nobody can quietly rewrite.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2021 auto shortage is the proof point: a low-value part with no visible substitute stopped a high-value product. Each of these three numbers is from the problem brief.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2021 lesson: companies could see direct suppliers and had zero visibility into the second and third tiers. Nothing about that has structurally changed.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Figures are as stated in the problem brief (TSMC advanced packaging, NVIDIA share, HBM booking, export-control cadence). Treat them as the brief’s claims, not audited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one-line under each state is our reading of what a greenfield fab must build, not a claim from the brief.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second brief. SiliconFlow today solves the allocation half for semiconductors; the same typed-event and approval model is the path toward the iteration half (quotes, lead times, part availability), listed under the roadmap.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explicit: the last row is a roadmap item, not shipped. The first four are what the repository does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six steps left to right. Stress that humans approve everything physical, legal or irreversible.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Maps one-to-one to the package layout in the repository. The full diagram is in the architecture artifact.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why the system is safe to put in front of real allocation decisions.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figures are from the bundled illustrative demo (siliconflow demo), not real customer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segments, all exposed to the same constrained slots and export rules. The buyer titles are the likely economic owner in each; confirm them in discovery calls. The $300 / $50,000 example is from the problem brief.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use case runs on the same loop: signal, impact, options, approve, act, learn. OSAT signed confirmations depend on the ledger work, which is on the roadmap.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row maps to a shipped capability: solver and verifier, sourced events, compliance gate, approvals, impact view, confirmations. Signed supplier confirmations on a shared ledger are the roadmap version of the last row.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figures come from the 25% packaging-cut incident on slide 11. Pilot targets are blank on purpose: set the baseline with each design partner, then measure against it. Early warning depends on the tier-2 data feeds, which are on the roadmap.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Honest framing: blockchain does not make bad data good. It makes the record of what was claimed, approved and confirmed impossible to quietly change, and it gives counterparties a record they do not have to take on trust from 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anchor service is the only new component in the write path. If the ledger is down, the platform keeps working and anchors catch up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Prices, volumes and export-controlled technical data never leave the database. Only digests do, so the ledger can be shared across rivals who all use the same fabs.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limits out loud; it builds trust. The oracle problem is the main caveat for any blockchain traceability claim.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ask. The design-partner request is a suggestion for the speaker to adapt.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0F1B26"/>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330920"/>
            <a:ext cx="10566400" cy="502841"/>
          </a:xfrm>
          <a:prstGeom prst="rect">
            <a:avLst/>
          </a:prstGeom>
          <a:noFill/>
          <a:ln/>
        </p:spPr>
        <p:txBody>
          <a:bodyPr wrap="square" lIns="0" tIns="0" rIns="0" bIns="0" rtlCol="0" anchor="t"/>
          <a:lstStyle>
            <a:lvl1pPr algn="l" indent="0" marL="0">
              <a:lnSpc>
                <a:spcPct val="115000"/>
              </a:lnSpc>
              <a:buNone/>
              <a:defRPr lang="en-US" sz="3600" dirty="0">
                <a:solidFill>
                  <a:srgbClr val="F3EFE6"/>
                </a:solidFill>
                <a:latin typeface="Space Grotesk" pitchFamily="34" charset="0"/>
                <a:ea typeface="Space Grotesk" pitchFamily="34" charset="-122"/>
                <a:cs typeface="Space Grotesk"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2138561"/>
            <a:ext cx="10566400" cy="3906639"/>
          </a:xfrm>
          <a:prstGeom prst="rect">
            <a:avLst/>
          </a:prstGeom>
          <a:noFill/>
          <a:ln/>
        </p:spPr>
        <p:txBody>
          <a:bodyPr wrap="square" lIns="0" tIns="0" rIns="0" bIns="0" rtlCol="0" anchor="t"/>
          <a:lstStyle>
            <a:lvl1pPr algn="l" indent="0" marL="0">
              <a:lnSpc>
                <a:spcPct val="140000"/>
              </a:lnSpc>
              <a:buNone/>
              <a:defRPr lang="en-US" sz="1600" dirty="0">
                <a:solidFill>
                  <a:srgbClr val="F3EFE6"/>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F1B26"/>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330920"/>
            <a:ext cx="10566400" cy="502841"/>
          </a:xfrm>
          <a:prstGeom prst="rect">
            <a:avLst/>
          </a:prstGeom>
          <a:noFill/>
          <a:ln/>
        </p:spPr>
        <p:txBody>
          <a:bodyPr wrap="square" lIns="0" tIns="0" rIns="0" bIns="0" rtlCol="0" anchor="t"/>
          <a:lstStyle>
            <a:lvl1pPr algn="l" indent="0" marL="0">
              <a:lnSpc>
                <a:spcPct val="115000"/>
              </a:lnSpc>
              <a:buNone/>
              <a:defRPr lang="en-US" sz="3600" dirty="0">
                <a:solidFill>
                  <a:srgbClr val="F3EFE6"/>
                </a:solidFill>
                <a:latin typeface="Space Grotesk" pitchFamily="34" charset="0"/>
                <a:ea typeface="Space Grotesk" pitchFamily="34" charset="-122"/>
                <a:cs typeface="Space Grotesk"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2138561"/>
            <a:ext cx="10566400" cy="3906639"/>
          </a:xfrm>
          <a:prstGeom prst="rect">
            <a:avLst/>
          </a:prstGeom>
          <a:noFill/>
          <a:ln/>
        </p:spPr>
        <p:txBody>
          <a:bodyPr wrap="square" lIns="0" tIns="0" rIns="0" bIns="0" rtlCol="0" anchor="t"/>
          <a:lstStyle>
            <a:lvl1pPr algn="l" indent="0" marL="0">
              <a:lnSpc>
                <a:spcPct val="140000"/>
              </a:lnSpc>
              <a:buNone/>
              <a:defRPr lang="en-US" sz="1600" dirty="0">
                <a:solidFill>
                  <a:srgbClr val="F3EFE6"/>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B26"/>
        </a:solidFill>
      </p:bgPr>
    </p:bg>
    <p:spTree>
      <p:nvGrpSpPr>
        <p:cNvPr id="1" name=""/>
        <p:cNvGrpSpPr/>
        <p:nvPr/>
      </p:nvGrpSpPr>
      <p:grpSpPr>
        <a:xfrm>
          <a:off x="0" y="0"/>
          <a:ext cx="0" cy="0"/>
          <a:chOff x="0" y="0"/>
          <a:chExt cx="0" cy="0"/>
        </a:xfrm>
      </p:grpSpPr>
      <p:sp>
        <p:nvSpPr>
          <p:cNvPr id="2" name="Text 0"/>
          <p:cNvSpPr/>
          <p:nvPr/>
        </p:nvSpPr>
        <p:spPr>
          <a:xfrm>
            <a:off x="812800" y="81280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b="1" spc="200" kern="0" dirty="0">
                <a:solidFill>
                  <a:srgbClr val="E9A23B"/>
                </a:solidFill>
                <a:latin typeface="IBM Plex Sans" pitchFamily="34" charset="0"/>
                <a:ea typeface="IBM Plex Sans" pitchFamily="34" charset="-122"/>
                <a:cs typeface="IBM Plex Sans" pitchFamily="34" charset="-120"/>
              </a:rPr>
              <a:t>TECHXCONF · SUPPLY CHAIN 2.0 FOR CHIPS</a:t>
            </a:r>
            <a:endParaRPr lang="en-US" sz="1400" dirty="0"/>
          </a:p>
        </p:txBody>
      </p:sp>
      <p:sp>
        <p:nvSpPr>
          <p:cNvPr id="3" name="Text 1"/>
          <p:cNvSpPr/>
          <p:nvPr>
            <p:ph type="title"/>
          </p:nvPr>
        </p:nvSpPr>
        <p:spPr>
          <a:xfrm>
            <a:off x="812800" y="2417366"/>
            <a:ext cx="10883392" cy="880269"/>
          </a:xfrm>
          <a:prstGeom prst="rect">
            <a:avLst/>
          </a:prstGeom>
          <a:noFill/>
          <a:ln/>
        </p:spPr>
        <p:txBody>
          <a:bodyPr wrap="square" lIns="0" tIns="0" rIns="0" bIns="0" rtlCol="0" anchor="t">
            <a:normAutofit/>
          </a:bodyPr>
          <a:lstStyle/>
          <a:p>
            <a:pPr algn="l" indent="0" marL="0">
              <a:lnSpc>
                <a:spcPts val="6732"/>
              </a:lnSpc>
              <a:buNone/>
            </a:pPr>
            <a:r>
              <a:rPr lang="en-US" sz="6600" b="1" i="0" dirty="0">
                <a:solidFill>
                  <a:srgbClr val="F3EFE6"/>
                </a:solidFill>
                <a:latin typeface="Space Grotesk" pitchFamily="34" charset="0"/>
                <a:ea typeface="Space Grotesk" pitchFamily="34" charset="-122"/>
                <a:cs typeface="Space Grotesk" pitchFamily="34" charset="-120"/>
              </a:rPr>
              <a:t>SiliconFlow</a:t>
            </a:r>
            <a:endParaRPr lang="en-US" sz="6600" dirty="0"/>
          </a:p>
        </p:txBody>
      </p:sp>
      <p:sp>
        <p:nvSpPr>
          <p:cNvPr id="4" name="Text 2"/>
          <p:cNvSpPr/>
          <p:nvPr/>
        </p:nvSpPr>
        <p:spPr>
          <a:xfrm>
            <a:off x="812800" y="3475434"/>
            <a:ext cx="10883392" cy="787400"/>
          </a:xfrm>
          <a:prstGeom prst="rect">
            <a:avLst/>
          </a:prstGeom>
          <a:noFill/>
          <a:ln/>
        </p:spPr>
        <p:txBody>
          <a:bodyPr wrap="square" lIns="0" tIns="0" rIns="0" bIns="0" rtlCol="0" anchor="t">
            <a:normAutofit/>
          </a:bodyPr>
          <a:lstStyle/>
          <a:p>
            <a:pPr algn="l" indent="0" marL="0">
              <a:lnSpc>
                <a:spcPts val="3000"/>
              </a:lnSpc>
              <a:buNone/>
            </a:pPr>
            <a:r>
              <a:rPr lang="en-US" sz="2400" dirty="0">
                <a:solidFill>
                  <a:srgbClr val="B8C4CE"/>
                </a:solidFill>
                <a:latin typeface="IBM Plex Sans" pitchFamily="34" charset="0"/>
                <a:ea typeface="IBM Plex Sans" pitchFamily="34" charset="-122"/>
                <a:cs typeface="IBM Plex Sans" pitchFamily="34" charset="-120"/>
              </a:rPr>
              <a:t>A control plane for semiconductor supply allocation and recovery, with a tamper-proof trail.</a:t>
            </a:r>
            <a:endParaRPr lang="en-US" sz="2400" dirty="0"/>
          </a:p>
        </p:txBody>
      </p:sp>
      <p:sp>
        <p:nvSpPr>
          <p:cNvPr id="5" name="Text 3"/>
          <p:cNvSpPr/>
          <p:nvPr/>
        </p:nvSpPr>
        <p:spPr>
          <a:xfrm>
            <a:off x="812800" y="5593159"/>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8C4CE"/>
                </a:solidFill>
                <a:latin typeface="IBM Plex Sans" pitchFamily="34" charset="0"/>
                <a:ea typeface="IBM Plex Sans" pitchFamily="34" charset="-122"/>
                <a:cs typeface="IBM Plex Sans" pitchFamily="34" charset="-120"/>
              </a:rPr>
              <a:t>From the problem statement to the architecture, end to end.</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3EFE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9A5B08"/>
                </a:solidFill>
                <a:latin typeface="IBM Plex Sans" pitchFamily="34" charset="0"/>
                <a:ea typeface="IBM Plex Sans" pitchFamily="34" charset="-122"/>
                <a:cs typeface="IBM Plex Sans" pitchFamily="34" charset="-120"/>
              </a:rPr>
              <a:t>PROBLEM 1 OF 5 · THE STAKES</a:t>
            </a:r>
            <a:endParaRPr lang="en-US" sz="1200" dirty="0"/>
          </a:p>
        </p:txBody>
      </p:sp>
      <p:sp>
        <p:nvSpPr>
          <p:cNvPr id="3" name="Text 1"/>
          <p:cNvSpPr/>
          <p:nvPr>
            <p:ph type="title"/>
          </p:nvPr>
        </p:nvSpPr>
        <p:spPr>
          <a:xfrm>
            <a:off x="812800" y="1381720"/>
            <a:ext cx="10883392" cy="103108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2B"/>
                </a:solidFill>
                <a:latin typeface="Space Grotesk" pitchFamily="34" charset="0"/>
                <a:ea typeface="Space Grotesk" pitchFamily="34" charset="-122"/>
                <a:cs typeface="Space Grotesk" pitchFamily="34" charset="-120"/>
              </a:rPr>
              <a:t>One chip: 1,400 steps, a dozen countries, five months</a:t>
            </a:r>
            <a:endParaRPr lang="en-US" sz="3600" dirty="0"/>
          </a:p>
        </p:txBody>
      </p:sp>
      <p:sp>
        <p:nvSpPr>
          <p:cNvPr id="4" name="Shape 2"/>
          <p:cNvSpPr/>
          <p:nvPr/>
        </p:nvSpPr>
        <p:spPr>
          <a:xfrm>
            <a:off x="815975" y="2746177"/>
            <a:ext cx="3380284" cy="1769070"/>
          </a:xfrm>
          <a:prstGeom prst="roundRect">
            <a:avLst>
              <a:gd name="adj" fmla="val 5564"/>
            </a:avLst>
          </a:prstGeom>
          <a:solidFill>
            <a:srgbClr val="FFFDF8"/>
          </a:solidFill>
          <a:ln w="6350">
            <a:solidFill>
              <a:srgbClr val="D9D3C4"/>
            </a:solidFill>
            <a:prstDash val="solid"/>
          </a:ln>
        </p:spPr>
      </p:sp>
      <p:sp>
        <p:nvSpPr>
          <p:cNvPr id="5" name="Text 3"/>
          <p:cNvSpPr/>
          <p:nvPr/>
        </p:nvSpPr>
        <p:spPr>
          <a:xfrm>
            <a:off x="1073150" y="3003352"/>
            <a:ext cx="2951912"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14212B"/>
                </a:solidFill>
                <a:latin typeface="Space Grotesk" pitchFamily="34" charset="0"/>
                <a:ea typeface="Space Grotesk" pitchFamily="34" charset="-122"/>
                <a:cs typeface="Space Grotesk" pitchFamily="34" charset="-120"/>
              </a:rPr>
              <a:t>1,400</a:t>
            </a:r>
            <a:endParaRPr lang="en-US" sz="4800" dirty="0"/>
          </a:p>
        </p:txBody>
      </p:sp>
      <p:sp>
        <p:nvSpPr>
          <p:cNvPr id="6" name="Text 4"/>
          <p:cNvSpPr/>
          <p:nvPr/>
        </p:nvSpPr>
        <p:spPr>
          <a:xfrm>
            <a:off x="1073150" y="3689152"/>
            <a:ext cx="2951912"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6525C"/>
                </a:solidFill>
                <a:latin typeface="IBM Plex Sans" pitchFamily="34" charset="0"/>
                <a:ea typeface="IBM Plex Sans" pitchFamily="34" charset="-122"/>
                <a:cs typeface="IBM Plex Sans" pitchFamily="34" charset="-120"/>
              </a:rPr>
              <a:t>process steps for a single advanced AI chip</a:t>
            </a:r>
            <a:endParaRPr lang="en-US" sz="1600" dirty="0"/>
          </a:p>
        </p:txBody>
      </p:sp>
      <p:sp>
        <p:nvSpPr>
          <p:cNvPr id="7" name="Shape 5"/>
          <p:cNvSpPr/>
          <p:nvPr/>
        </p:nvSpPr>
        <p:spPr>
          <a:xfrm>
            <a:off x="4405809" y="2746177"/>
            <a:ext cx="3380383" cy="1769070"/>
          </a:xfrm>
          <a:prstGeom prst="roundRect">
            <a:avLst>
              <a:gd name="adj" fmla="val 5564"/>
            </a:avLst>
          </a:prstGeom>
          <a:solidFill>
            <a:srgbClr val="FFFDF8"/>
          </a:solidFill>
          <a:ln w="6350">
            <a:solidFill>
              <a:srgbClr val="D9D3C4"/>
            </a:solidFill>
            <a:prstDash val="solid"/>
          </a:ln>
        </p:spPr>
      </p:sp>
      <p:sp>
        <p:nvSpPr>
          <p:cNvPr id="8" name="Text 6"/>
          <p:cNvSpPr/>
          <p:nvPr/>
        </p:nvSpPr>
        <p:spPr>
          <a:xfrm>
            <a:off x="4662984" y="3003352"/>
            <a:ext cx="2952014"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14212B"/>
                </a:solidFill>
                <a:latin typeface="Space Grotesk" pitchFamily="34" charset="0"/>
                <a:ea typeface="Space Grotesk" pitchFamily="34" charset="-122"/>
                <a:cs typeface="Space Grotesk" pitchFamily="34" charset="-120"/>
              </a:rPr>
              <a:t>$300</a:t>
            </a:r>
            <a:endParaRPr lang="en-US" sz="4800" dirty="0"/>
          </a:p>
        </p:txBody>
      </p:sp>
      <p:sp>
        <p:nvSpPr>
          <p:cNvPr id="9" name="Text 7"/>
          <p:cNvSpPr/>
          <p:nvPr/>
        </p:nvSpPr>
        <p:spPr>
          <a:xfrm>
            <a:off x="4662984" y="3689152"/>
            <a:ext cx="2952014"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6525C"/>
                </a:solidFill>
                <a:latin typeface="IBM Plex Sans" pitchFamily="34" charset="0"/>
                <a:ea typeface="IBM Plex Sans" pitchFamily="34" charset="-122"/>
                <a:cs typeface="IBM Plex Sans" pitchFamily="34" charset="-120"/>
              </a:rPr>
              <a:t>chip that held up a $50,000 car in 2021</a:t>
            </a:r>
            <a:endParaRPr lang="en-US" sz="1600" dirty="0"/>
          </a:p>
        </p:txBody>
      </p:sp>
      <p:sp>
        <p:nvSpPr>
          <p:cNvPr id="10" name="Shape 8"/>
          <p:cNvSpPr/>
          <p:nvPr/>
        </p:nvSpPr>
        <p:spPr>
          <a:xfrm>
            <a:off x="7995741" y="2746177"/>
            <a:ext cx="3380284" cy="1769070"/>
          </a:xfrm>
          <a:prstGeom prst="roundRect">
            <a:avLst>
              <a:gd name="adj" fmla="val 5564"/>
            </a:avLst>
          </a:prstGeom>
          <a:solidFill>
            <a:srgbClr val="FFFDF8"/>
          </a:solidFill>
          <a:ln w="6350">
            <a:solidFill>
              <a:srgbClr val="D9D3C4"/>
            </a:solidFill>
            <a:prstDash val="solid"/>
          </a:ln>
        </p:spPr>
      </p:sp>
      <p:sp>
        <p:nvSpPr>
          <p:cNvPr id="11" name="Text 9"/>
          <p:cNvSpPr/>
          <p:nvPr/>
        </p:nvSpPr>
        <p:spPr>
          <a:xfrm>
            <a:off x="8252916" y="3003352"/>
            <a:ext cx="2951912"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9A5B08"/>
                </a:solidFill>
                <a:latin typeface="Space Grotesk" pitchFamily="34" charset="0"/>
                <a:ea typeface="Space Grotesk" pitchFamily="34" charset="-122"/>
                <a:cs typeface="Space Grotesk" pitchFamily="34" charset="-120"/>
              </a:rPr>
              <a:t>$210B</a:t>
            </a:r>
            <a:endParaRPr lang="en-US" sz="4800" dirty="0"/>
          </a:p>
        </p:txBody>
      </p:sp>
      <p:sp>
        <p:nvSpPr>
          <p:cNvPr id="12" name="Text 10"/>
          <p:cNvSpPr/>
          <p:nvPr/>
        </p:nvSpPr>
        <p:spPr>
          <a:xfrm>
            <a:off x="8252916" y="3689152"/>
            <a:ext cx="2951912"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6525C"/>
                </a:solidFill>
                <a:latin typeface="IBM Plex Sans" pitchFamily="34" charset="0"/>
                <a:ea typeface="IBM Plex Sans" pitchFamily="34" charset="-122"/>
                <a:cs typeface="IBM Plex Sans" pitchFamily="34" charset="-120"/>
              </a:rPr>
              <a:t>of vehicles that were never built</a:t>
            </a:r>
            <a:endParaRPr lang="en-US" sz="1600" dirty="0"/>
          </a:p>
        </p:txBody>
      </p:sp>
      <p:sp>
        <p:nvSpPr>
          <p:cNvPr id="13" name="Text 11"/>
          <p:cNvSpPr/>
          <p:nvPr/>
        </p:nvSpPr>
        <p:spPr>
          <a:xfrm>
            <a:off x="812800" y="4874022"/>
            <a:ext cx="10883392"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6525C"/>
                </a:solidFill>
                <a:latin typeface="IBM Plex Sans" pitchFamily="34" charset="0"/>
                <a:ea typeface="IBM Plex Sans" pitchFamily="34" charset="-122"/>
                <a:cs typeface="IBM Plex Sans" pitchFamily="34" charset="-120"/>
              </a:rPr>
              <a:t>All of it managed with spreadsheets, SAP and phone calls.</a:t>
            </a:r>
            <a:endParaRPr lang="en-US" sz="1600" dirty="0"/>
          </a:p>
        </p:txBody>
      </p:sp>
      <p:sp>
        <p:nvSpPr>
          <p:cNvPr id="14" name="Text 12"/>
          <p:cNvSpPr/>
          <p:nvPr/>
        </p:nvSpPr>
        <p:spPr>
          <a:xfrm>
            <a:off x="812800" y="6238280"/>
            <a:ext cx="203454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79"/>
                </a:solidFill>
                <a:latin typeface="IBM Plex Sans" pitchFamily="34" charset="0"/>
                <a:ea typeface="IBM Plex Sans" pitchFamily="34" charset="-122"/>
                <a:cs typeface="IBM Plex Sans" pitchFamily="34" charset="-120"/>
              </a:rPr>
              <a:t>Source: problem brief · 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B2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E9A23B"/>
                </a:solidFill>
                <a:latin typeface="IBM Plex Sans" pitchFamily="34" charset="0"/>
                <a:ea typeface="IBM Plex Sans" pitchFamily="34" charset="-122"/>
                <a:cs typeface="IBM Plex Sans" pitchFamily="34" charset="-120"/>
              </a:rPr>
              <a:t>PROBLEM 2 OF 5 · VISIBILITY</a:t>
            </a:r>
            <a:endParaRPr lang="en-US" sz="1200" dirty="0"/>
          </a:p>
        </p:txBody>
      </p:sp>
      <p:sp>
        <p:nvSpPr>
          <p:cNvPr id="3" name="Text 1"/>
          <p:cNvSpPr/>
          <p:nvPr>
            <p:ph type="title"/>
          </p:nvPr>
        </p:nvSpPr>
        <p:spPr>
          <a:xfrm>
            <a:off x="812800" y="1381720"/>
            <a:ext cx="11379200"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3EFE6"/>
                </a:solidFill>
                <a:latin typeface="Space Grotesk" pitchFamily="34" charset="0"/>
                <a:ea typeface="Space Grotesk" pitchFamily="34" charset="-122"/>
                <a:cs typeface="Space Grotesk" pitchFamily="34" charset="-120"/>
              </a:rPr>
              <a:t>You can see tier 1. The risk lives in tiers 2 and 3.</a:t>
            </a:r>
            <a:endParaRPr lang="en-US" sz="3600" dirty="0"/>
          </a:p>
        </p:txBody>
      </p:sp>
      <p:sp>
        <p:nvSpPr>
          <p:cNvPr id="4" name="Shape 2"/>
          <p:cNvSpPr/>
          <p:nvPr/>
        </p:nvSpPr>
        <p:spPr>
          <a:xfrm>
            <a:off x="819150" y="2246511"/>
            <a:ext cx="3407767" cy="1727200"/>
          </a:xfrm>
          <a:prstGeom prst="roundRect">
            <a:avLst>
              <a:gd name="adj" fmla="val 5515"/>
            </a:avLst>
          </a:prstGeom>
          <a:solidFill>
            <a:srgbClr val="183041"/>
          </a:solidFill>
          <a:ln w="12700">
            <a:solidFill>
              <a:srgbClr val="4CC3B0"/>
            </a:solidFill>
            <a:prstDash val="solid"/>
          </a:ln>
        </p:spPr>
      </p:sp>
      <p:sp>
        <p:nvSpPr>
          <p:cNvPr id="5" name="Text 3"/>
          <p:cNvSpPr/>
          <p:nvPr/>
        </p:nvSpPr>
        <p:spPr>
          <a:xfrm>
            <a:off x="1079500" y="2506861"/>
            <a:ext cx="2973679"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4CC3B0"/>
                </a:solidFill>
                <a:latin typeface="IBM Plex Sans" pitchFamily="34" charset="0"/>
                <a:ea typeface="IBM Plex Sans" pitchFamily="34" charset="-122"/>
                <a:cs typeface="IBM Plex Sans" pitchFamily="34" charset="-120"/>
              </a:rPr>
              <a:t>Tier 1 · visible</a:t>
            </a:r>
            <a:endParaRPr lang="en-US" sz="2000" dirty="0"/>
          </a:p>
        </p:txBody>
      </p:sp>
      <p:sp>
        <p:nvSpPr>
          <p:cNvPr id="6" name="Text 4"/>
          <p:cNvSpPr/>
          <p:nvPr/>
        </p:nvSpPr>
        <p:spPr>
          <a:xfrm>
            <a:off x="1079500" y="2913261"/>
            <a:ext cx="2973679"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B8C4CE"/>
                </a:solidFill>
                <a:latin typeface="IBM Plex Sans" pitchFamily="34" charset="0"/>
                <a:ea typeface="IBM Plex Sans" pitchFamily="34" charset="-122"/>
                <a:cs typeface="IBM Plex Sans" pitchFamily="34" charset="-120"/>
              </a:rPr>
              <a:t>Direct suppliers: OSATs, foundries, substrate vendors. In your ERP.</a:t>
            </a:r>
            <a:endParaRPr lang="en-US" sz="1500" dirty="0"/>
          </a:p>
        </p:txBody>
      </p:sp>
      <p:sp>
        <p:nvSpPr>
          <p:cNvPr id="7" name="Shape 5"/>
          <p:cNvSpPr/>
          <p:nvPr/>
        </p:nvSpPr>
        <p:spPr>
          <a:xfrm>
            <a:off x="4392017" y="2246511"/>
            <a:ext cx="3407866" cy="1727200"/>
          </a:xfrm>
          <a:prstGeom prst="roundRect">
            <a:avLst>
              <a:gd name="adj" fmla="val 5515"/>
            </a:avLst>
          </a:prstGeom>
          <a:solidFill>
            <a:srgbClr val="142634"/>
          </a:solidFill>
          <a:ln w="12700">
            <a:solidFill>
              <a:srgbClr val="E9A23B"/>
            </a:solidFill>
            <a:prstDash val="dash"/>
          </a:ln>
        </p:spPr>
      </p:sp>
      <p:sp>
        <p:nvSpPr>
          <p:cNvPr id="8" name="Text 6"/>
          <p:cNvSpPr/>
          <p:nvPr/>
        </p:nvSpPr>
        <p:spPr>
          <a:xfrm>
            <a:off x="4652367" y="2506861"/>
            <a:ext cx="2973781"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E9A23B"/>
                </a:solidFill>
                <a:latin typeface="IBM Plex Sans" pitchFamily="34" charset="0"/>
                <a:ea typeface="IBM Plex Sans" pitchFamily="34" charset="-122"/>
                <a:cs typeface="IBM Plex Sans" pitchFamily="34" charset="-120"/>
              </a:rPr>
              <a:t>Tier 2 · partial</a:t>
            </a:r>
            <a:endParaRPr lang="en-US" sz="2000" dirty="0"/>
          </a:p>
        </p:txBody>
      </p:sp>
      <p:sp>
        <p:nvSpPr>
          <p:cNvPr id="9" name="Text 7"/>
          <p:cNvSpPr/>
          <p:nvPr/>
        </p:nvSpPr>
        <p:spPr>
          <a:xfrm>
            <a:off x="4652367" y="2913261"/>
            <a:ext cx="2973781"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B8C4CE"/>
                </a:solidFill>
                <a:latin typeface="IBM Plex Sans" pitchFamily="34" charset="0"/>
                <a:ea typeface="IBM Plex Sans" pitchFamily="34" charset="-122"/>
                <a:cs typeface="IBM Plex Sans" pitchFamily="34" charset="-120"/>
              </a:rPr>
              <a:t>Their suppliers: substrates, wafers, gases. Known by name, not by lot.</a:t>
            </a:r>
            <a:endParaRPr lang="en-US" sz="1500" dirty="0"/>
          </a:p>
        </p:txBody>
      </p:sp>
      <p:sp>
        <p:nvSpPr>
          <p:cNvPr id="10" name="Shape 8"/>
          <p:cNvSpPr/>
          <p:nvPr/>
        </p:nvSpPr>
        <p:spPr>
          <a:xfrm>
            <a:off x="7964984" y="2246511"/>
            <a:ext cx="3407866" cy="1727200"/>
          </a:xfrm>
          <a:prstGeom prst="roundRect">
            <a:avLst>
              <a:gd name="adj" fmla="val 5515"/>
            </a:avLst>
          </a:prstGeom>
          <a:solidFill>
            <a:srgbClr val="101F2B"/>
          </a:solidFill>
          <a:ln w="12700">
            <a:solidFill>
              <a:srgbClr val="5A6B78"/>
            </a:solidFill>
            <a:prstDash val="dash"/>
          </a:ln>
        </p:spPr>
      </p:sp>
      <p:sp>
        <p:nvSpPr>
          <p:cNvPr id="11" name="Text 9"/>
          <p:cNvSpPr/>
          <p:nvPr/>
        </p:nvSpPr>
        <p:spPr>
          <a:xfrm>
            <a:off x="8225334" y="2506861"/>
            <a:ext cx="2973781"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B8C4CE"/>
                </a:solidFill>
                <a:latin typeface="IBM Plex Sans" pitchFamily="34" charset="0"/>
                <a:ea typeface="IBM Plex Sans" pitchFamily="34" charset="-122"/>
                <a:cs typeface="IBM Plex Sans" pitchFamily="34" charset="-120"/>
              </a:rPr>
              <a:t>Tier 3 · dark</a:t>
            </a:r>
            <a:endParaRPr lang="en-US" sz="2000" dirty="0"/>
          </a:p>
        </p:txBody>
      </p:sp>
      <p:sp>
        <p:nvSpPr>
          <p:cNvPr id="12" name="Text 10"/>
          <p:cNvSpPr/>
          <p:nvPr/>
        </p:nvSpPr>
        <p:spPr>
          <a:xfrm>
            <a:off x="8225334" y="2913261"/>
            <a:ext cx="2973781"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B8C4CE"/>
                </a:solidFill>
                <a:latin typeface="IBM Plex Sans" pitchFamily="34" charset="0"/>
                <a:ea typeface="IBM Plex Sans" pitchFamily="34" charset="-122"/>
                <a:cs typeface="IBM Plex Sans" pitchFamily="34" charset="-120"/>
              </a:rPr>
              <a:t>Materials and equipment. Learned about when a shipment is late.</a:t>
            </a:r>
            <a:endParaRPr lang="en-US" sz="1500" dirty="0"/>
          </a:p>
        </p:txBody>
      </p:sp>
      <p:sp>
        <p:nvSpPr>
          <p:cNvPr id="13" name="Text 11"/>
          <p:cNvSpPr/>
          <p:nvPr/>
        </p:nvSpPr>
        <p:spPr>
          <a:xfrm>
            <a:off x="812800" y="4335661"/>
            <a:ext cx="10883392"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B8C4CE"/>
                </a:solidFill>
                <a:latin typeface="IBM Plex Sans" pitchFamily="34" charset="0"/>
                <a:ea typeface="IBM Plex Sans" pitchFamily="34" charset="-122"/>
                <a:cs typeface="IBM Plex Sans" pitchFamily="34" charset="-120"/>
              </a:rPr>
              <a:t>A shortage in tier 3 reaches you as a surprise, weeks after someone downstream already knew.</a:t>
            </a:r>
            <a:endParaRPr lang="en-US" sz="1600" dirty="0"/>
          </a:p>
        </p:txBody>
      </p:sp>
      <p:sp>
        <p:nvSpPr>
          <p:cNvPr id="14" name="Text 12"/>
          <p:cNvSpPr/>
          <p:nvPr/>
        </p:nvSpPr>
        <p:spPr>
          <a:xfrm>
            <a:off x="812800" y="6238280"/>
            <a:ext cx="203454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A0AD"/>
                </a:solidFill>
                <a:latin typeface="IBM Plex Sans" pitchFamily="34" charset="0"/>
                <a:ea typeface="IBM Plex Sans" pitchFamily="34" charset="-122"/>
                <a:cs typeface="IBM Plex Sans" pitchFamily="34" charset="-120"/>
              </a:rPr>
              <a:t>Source: problem brief · 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3EFE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9A5B08"/>
                </a:solidFill>
                <a:latin typeface="IBM Plex Sans" pitchFamily="34" charset="0"/>
                <a:ea typeface="IBM Plex Sans" pitchFamily="34" charset="-122"/>
                <a:cs typeface="IBM Plex Sans" pitchFamily="34" charset="-120"/>
              </a:rPr>
              <a:t>PROBLEM 3 OF 5 · SCARCITY MOVES</a:t>
            </a:r>
            <a:endParaRPr lang="en-US" sz="1200" dirty="0"/>
          </a:p>
        </p:txBody>
      </p:sp>
      <p:sp>
        <p:nvSpPr>
          <p:cNvPr id="3" name="Text 1"/>
          <p:cNvSpPr/>
          <p:nvPr>
            <p:ph type="title"/>
          </p:nvPr>
        </p:nvSpPr>
        <p:spPr>
          <a:xfrm>
            <a:off x="812800" y="13817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2B"/>
                </a:solidFill>
                <a:latin typeface="Space Grotesk" pitchFamily="34" charset="0"/>
                <a:ea typeface="Space Grotesk" pitchFamily="34" charset="-122"/>
                <a:cs typeface="Space Grotesk" pitchFamily="34" charset="-120"/>
              </a:rPr>
              <a:t>Allocation, not demand, decides who ships</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2252861"/>
          <a:ext cx="10553700" cy="2041426"/>
        </p:xfrm>
        <a:graphic>
          <a:graphicData uri="http://schemas.openxmlformats.org/drawingml/2006/table">
            <a:tbl>
              <a:tblPr/>
              <a:tblGrid>
                <a:gridCol w="3588258"/>
                <a:gridCol w="3799332"/>
                <a:gridCol w="3166110"/>
              </a:tblGrid>
              <a:tr h="439241">
                <a:tc>
                  <a:txBody>
                    <a:bodyPr/>
                    <a:lstStyle/>
                    <a:p>
                      <a:pPr indent="0" marL="0">
                        <a:lnSpc>
                          <a:spcPts val="2240"/>
                        </a:lnSpc>
                        <a:buNone/>
                      </a:pPr>
                      <a:r>
                        <a:rPr lang="en-US" sz="1600" b="1" dirty="0">
                          <a:solidFill>
                            <a:srgbClr val="14212B"/>
                          </a:solidFill>
                          <a:latin typeface="IBM Plex Sans" pitchFamily="34" charset="0"/>
                          <a:ea typeface="IBM Plex Sans" pitchFamily="34" charset="-122"/>
                          <a:cs typeface="IBM Plex Sans" pitchFamily="34" charset="-120"/>
                        </a:rPr>
                        <a:t>Constraint</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2BFB8"/>
                      </a:solidFill>
                      <a:prstDash val="solid"/>
                      <a:round/>
                      <a:headEnd type="none" w="med" len="med"/>
                      <a:tailEnd type="none" w="med" len="med"/>
                    </a:lnL>
                    <a:lnR w="12700" cap="flat" cmpd="sng" algn="ctr">
                      <a:solidFill>
                        <a:srgbClr val="B4B1AA"/>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4B1AA"/>
                      </a:solidFill>
                      <a:prstDash val="solid"/>
                      <a:round/>
                      <a:headEnd type="none" w="med" len="med"/>
                      <a:tailEnd type="none" w="med" len="med"/>
                    </a:lnB>
                    <a:solidFill>
                      <a:srgbClr val="E1DDD5"/>
                    </a:solidFill>
                  </a:tcPr>
                </a:tc>
                <a:tc>
                  <a:txBody>
                    <a:bodyPr/>
                    <a:lstStyle/>
                    <a:p>
                      <a:pPr indent="0" marL="0">
                        <a:lnSpc>
                          <a:spcPts val="2240"/>
                        </a:lnSpc>
                        <a:buNone/>
                      </a:pPr>
                      <a:r>
                        <a:rPr lang="en-US" sz="1600" b="1" dirty="0">
                          <a:solidFill>
                            <a:srgbClr val="14212B"/>
                          </a:solidFill>
                          <a:latin typeface="IBM Plex Sans" pitchFamily="34" charset="0"/>
                          <a:ea typeface="IBM Plex Sans" pitchFamily="34" charset="-122"/>
                          <a:cs typeface="IBM Plex Sans" pitchFamily="34" charset="-120"/>
                        </a:rPr>
                        <a:t>What the brief says</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B4B1AA"/>
                      </a:solidFill>
                      <a:prstDash val="solid"/>
                      <a:round/>
                      <a:headEnd type="none" w="med" len="med"/>
                      <a:tailEnd type="none" w="med" len="med"/>
                    </a:lnL>
                    <a:lnR w="12700" cap="flat" cmpd="sng" algn="ctr">
                      <a:solidFill>
                        <a:srgbClr val="B4B1AA"/>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4B1AA"/>
                      </a:solidFill>
                      <a:prstDash val="solid"/>
                      <a:round/>
                      <a:headEnd type="none" w="med" len="med"/>
                      <a:tailEnd type="none" w="med" len="med"/>
                    </a:lnB>
                    <a:solidFill>
                      <a:srgbClr val="E1DDD5"/>
                    </a:solidFill>
                  </a:tcPr>
                </a:tc>
                <a:tc>
                  <a:txBody>
                    <a:bodyPr/>
                    <a:lstStyle/>
                    <a:p>
                      <a:pPr indent="0" marL="0">
                        <a:lnSpc>
                          <a:spcPts val="2240"/>
                        </a:lnSpc>
                        <a:buNone/>
                      </a:pPr>
                      <a:r>
                        <a:rPr lang="en-US" sz="1600" b="1" dirty="0">
                          <a:solidFill>
                            <a:srgbClr val="14212B"/>
                          </a:solidFill>
                          <a:latin typeface="IBM Plex Sans" pitchFamily="34" charset="0"/>
                          <a:ea typeface="IBM Plex Sans" pitchFamily="34" charset="-122"/>
                          <a:cs typeface="IBM Plex Sans" pitchFamily="34" charset="-120"/>
                        </a:rPr>
                        <a:t>Why spreadsheets fail</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B4B1AA"/>
                      </a:solidFill>
                      <a:prstDash val="solid"/>
                      <a:round/>
                      <a:headEnd type="none" w="med" len="med"/>
                      <a:tailEnd type="none" w="med" len="med"/>
                    </a:lnL>
                    <a:lnR w="12700" cap="flat" cmpd="sng" algn="ctr">
                      <a:solidFill>
                        <a:srgbClr val="B4B1AA"/>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4B1AA"/>
                      </a:solidFill>
                      <a:prstDash val="solid"/>
                      <a:round/>
                      <a:headEnd type="none" w="med" len="med"/>
                      <a:tailEnd type="none" w="med" len="med"/>
                    </a:lnB>
                    <a:solidFill>
                      <a:srgbClr val="E1DDD5"/>
                    </a:solidFill>
                  </a:tcPr>
                </a:tc>
              </a:tr>
              <a:tr h="723702">
                <a:tc>
                  <a:txBody>
                    <a:bodyPr/>
                    <a:lstStyle/>
                    <a:p>
                      <a:pPr indent="0" marL="0">
                        <a:lnSpc>
                          <a:spcPts val="2240"/>
                        </a:lnSpc>
                        <a:buNone/>
                      </a:pPr>
                      <a:r>
                        <a:rPr lang="en-US" sz="1600" dirty="0">
                          <a:solidFill>
                            <a:srgbClr val="14212B"/>
                          </a:solidFill>
                          <a:latin typeface="IBM Plex Sans" pitchFamily="34" charset="0"/>
                          <a:ea typeface="IBM Plex Sans" pitchFamily="34" charset="-122"/>
                          <a:cs typeface="IBM Plex Sans" pitchFamily="34" charset="-120"/>
                        </a:rPr>
                        <a:t>Advanced packaging</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4B1AA"/>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indent="0" marL="0">
                        <a:lnSpc>
                          <a:spcPts val="2240"/>
                        </a:lnSpc>
                        <a:buNone/>
                      </a:pPr>
                      <a:r>
                        <a:rPr lang="en-US" sz="1600" dirty="0">
                          <a:solidFill>
                            <a:srgbClr val="14212B"/>
                          </a:solidFill>
                          <a:latin typeface="IBM Plex Sans" pitchFamily="34" charset="0"/>
                          <a:ea typeface="IBM Plex Sans" pitchFamily="34" charset="-122"/>
                          <a:cs typeface="IBM Plex Sans" pitchFamily="34" charset="-120"/>
                        </a:rPr>
                        <a:t>Biggest AI-compute bottleneck; one buyer holds 60%+</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4B1AA"/>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indent="0" marL="0">
                        <a:lnSpc>
                          <a:spcPts val="2240"/>
                        </a:lnSpc>
                        <a:buNone/>
                      </a:pPr>
                      <a:r>
                        <a:rPr lang="en-US" sz="1600" dirty="0">
                          <a:solidFill>
                            <a:srgbClr val="14212B"/>
                          </a:solidFill>
                          <a:latin typeface="IBM Plex Sans" pitchFamily="34" charset="0"/>
                          <a:ea typeface="IBM Plex Sans" pitchFamily="34" charset="-122"/>
                          <a:cs typeface="IBM Plex Sans" pitchFamily="34" charset="-120"/>
                        </a:rPr>
                        <a:t>Slots change weekly</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4B1AA"/>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r>
              <a:tr h="439241">
                <a:tc>
                  <a:txBody>
                    <a:bodyPr/>
                    <a:lstStyle/>
                    <a:p>
                      <a:pPr indent="0" marL="0">
                        <a:lnSpc>
                          <a:spcPts val="2240"/>
                        </a:lnSpc>
                        <a:buNone/>
                      </a:pPr>
                      <a:r>
                        <a:rPr lang="en-US" sz="1600" dirty="0">
                          <a:solidFill>
                            <a:srgbClr val="14212B"/>
                          </a:solidFill>
                          <a:latin typeface="IBM Plex Sans" pitchFamily="34" charset="0"/>
                          <a:ea typeface="IBM Plex Sans" pitchFamily="34" charset="-122"/>
                          <a:cs typeface="IBM Plex Sans" pitchFamily="34" charset="-120"/>
                        </a:rPr>
                        <a:t>HBM memory</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indent="0" marL="0">
                        <a:lnSpc>
                          <a:spcPts val="2240"/>
                        </a:lnSpc>
                        <a:buNone/>
                      </a:pPr>
                      <a:r>
                        <a:rPr lang="en-US" sz="1600" dirty="0">
                          <a:solidFill>
                            <a:srgbClr val="14212B"/>
                          </a:solidFill>
                          <a:latin typeface="IBM Plex Sans" pitchFamily="34" charset="0"/>
                          <a:ea typeface="IBM Plex Sans" pitchFamily="34" charset="-122"/>
                          <a:cs typeface="IBM Plex Sans" pitchFamily="34" charset="-120"/>
                        </a:rPr>
                        <a:t>Booked through 2026</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indent="0" marL="0">
                        <a:lnSpc>
                          <a:spcPts val="2240"/>
                        </a:lnSpc>
                        <a:buNone/>
                      </a:pPr>
                      <a:r>
                        <a:rPr lang="en-US" sz="1600" dirty="0">
                          <a:solidFill>
                            <a:srgbClr val="14212B"/>
                          </a:solidFill>
                          <a:latin typeface="IBM Plex Sans" pitchFamily="34" charset="0"/>
                          <a:ea typeface="IBM Plex Sans" pitchFamily="34" charset="-122"/>
                          <a:cs typeface="IBM Plex Sans" pitchFamily="34" charset="-120"/>
                        </a:rPr>
                        <a:t>Commitments, not stock</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r>
              <a:tr h="439241">
                <a:tc>
                  <a:txBody>
                    <a:bodyPr/>
                    <a:lstStyle/>
                    <a:p>
                      <a:pPr indent="0" marL="0">
                        <a:lnSpc>
                          <a:spcPts val="2240"/>
                        </a:lnSpc>
                        <a:buNone/>
                      </a:pPr>
                      <a:r>
                        <a:rPr lang="en-US" sz="1600" dirty="0">
                          <a:solidFill>
                            <a:srgbClr val="14212B"/>
                          </a:solidFill>
                          <a:latin typeface="IBM Plex Sans" pitchFamily="34" charset="0"/>
                          <a:ea typeface="IBM Plex Sans" pitchFamily="34" charset="-122"/>
                          <a:cs typeface="IBM Plex Sans" pitchFamily="34" charset="-120"/>
                        </a:rPr>
                        <a:t>Export controls</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indent="0" marL="0">
                        <a:lnSpc>
                          <a:spcPts val="2240"/>
                        </a:lnSpc>
                        <a:buNone/>
                      </a:pPr>
                      <a:r>
                        <a:rPr lang="en-US" sz="1600" dirty="0">
                          <a:solidFill>
                            <a:srgbClr val="14212B"/>
                          </a:solidFill>
                          <a:latin typeface="IBM Plex Sans" pitchFamily="34" charset="0"/>
                          <a:ea typeface="IBM Plex Sans" pitchFamily="34" charset="-122"/>
                          <a:cs typeface="IBM Plex Sans" pitchFamily="34" charset="-120"/>
                        </a:rPr>
                        <a:t>Change quarterly</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indent="0" marL="0">
                        <a:lnSpc>
                          <a:spcPts val="2240"/>
                        </a:lnSpc>
                        <a:buNone/>
                      </a:pPr>
                      <a:r>
                        <a:rPr lang="en-US" sz="1600" dirty="0">
                          <a:solidFill>
                            <a:srgbClr val="14212B"/>
                          </a:solidFill>
                          <a:latin typeface="IBM Plex Sans" pitchFamily="34" charset="0"/>
                          <a:ea typeface="IBM Plex Sans" pitchFamily="34" charset="-122"/>
                          <a:cs typeface="IBM Plex Sans" pitchFamily="34" charset="-120"/>
                        </a:rPr>
                        <a:t>Rules live in PDFs</a:t>
                      </a:r>
                      <a:endParaRPr lang="en-US" sz="1600" dirty="0">
                        <a:latin typeface="IBM Plex Sans" charset="0"/>
                        <a:ea typeface="IBM Plex Sans" charset="0"/>
                        <a:cs typeface="IBM Plex Sans" charset="0"/>
                      </a:endParaRPr>
                    </a:p>
                  </a:txBody>
                  <a:tcPr marL="71120" marR="71120" marT="71120" marB="7112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r>
            </a:tbl>
          </a:graphicData>
        </a:graphic>
      </p:graphicFrame>
      <p:sp>
        <p:nvSpPr>
          <p:cNvPr id="5" name="Text 2"/>
          <p:cNvSpPr/>
          <p:nvPr/>
        </p:nvSpPr>
        <p:spPr>
          <a:xfrm>
            <a:off x="812800" y="4649887"/>
            <a:ext cx="1137920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6525C"/>
                </a:solidFill>
                <a:latin typeface="IBM Plex Sans" pitchFamily="34" charset="0"/>
                <a:ea typeface="IBM Plex Sans" pitchFamily="34" charset="-122"/>
                <a:cs typeface="IBM Plex Sans" pitchFamily="34" charset="-120"/>
              </a:rPr>
              <a:t>The question is never “do we have parts” but “which orders get the constrained slots, and are they allowed to ship.”</a:t>
            </a:r>
            <a:endParaRPr lang="en-US" sz="1600" dirty="0"/>
          </a:p>
        </p:txBody>
      </p:sp>
      <p:sp>
        <p:nvSpPr>
          <p:cNvPr id="6" name="Text 3"/>
          <p:cNvSpPr/>
          <p:nvPr/>
        </p:nvSpPr>
        <p:spPr>
          <a:xfrm>
            <a:off x="812800" y="6238280"/>
            <a:ext cx="203454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79"/>
                </a:solidFill>
                <a:latin typeface="IBM Plex Sans" pitchFamily="34" charset="0"/>
                <a:ea typeface="IBM Plex Sans" pitchFamily="34" charset="-122"/>
                <a:cs typeface="IBM Plex Sans" pitchFamily="34" charset="-120"/>
              </a:rPr>
              <a:t>Source: problem brief · 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1B2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E9A23B"/>
                </a:solidFill>
                <a:latin typeface="IBM Plex Sans" pitchFamily="34" charset="0"/>
                <a:ea typeface="IBM Plex Sans" pitchFamily="34" charset="-122"/>
                <a:cs typeface="IBM Plex Sans" pitchFamily="34" charset="-120"/>
              </a:rPr>
              <a:t>PROBLEM 4 OF 5 · NEW FABS</a:t>
            </a:r>
            <a:endParaRPr lang="en-US" sz="1200" dirty="0"/>
          </a:p>
        </p:txBody>
      </p:sp>
      <p:sp>
        <p:nvSpPr>
          <p:cNvPr id="3" name="Text 1"/>
          <p:cNvSpPr/>
          <p:nvPr>
            <p:ph type="title"/>
          </p:nvPr>
        </p:nvSpPr>
        <p:spPr>
          <a:xfrm>
            <a:off x="812800" y="1381720"/>
            <a:ext cx="10883392" cy="103108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3EFE6"/>
                </a:solidFill>
                <a:latin typeface="Space Grotesk" pitchFamily="34" charset="0"/>
                <a:ea typeface="Space Grotesk" pitchFamily="34" charset="-122"/>
                <a:cs typeface="Space Grotesk" pitchFamily="34" charset="-120"/>
              </a:rPr>
              <a:t>The CHIPS Act builds fabs. Their supply chains start from zero.</a:t>
            </a:r>
            <a:endParaRPr lang="en-US" sz="3600" dirty="0"/>
          </a:p>
        </p:txBody>
      </p:sp>
      <p:sp>
        <p:nvSpPr>
          <p:cNvPr id="4" name="Shape 2"/>
          <p:cNvSpPr/>
          <p:nvPr/>
        </p:nvSpPr>
        <p:spPr>
          <a:xfrm>
            <a:off x="812800" y="2743002"/>
            <a:ext cx="2527300" cy="1168301"/>
          </a:xfrm>
          <a:prstGeom prst="roundRect">
            <a:avLst>
              <a:gd name="adj" fmla="val 8696"/>
            </a:avLst>
          </a:prstGeom>
          <a:solidFill>
            <a:srgbClr val="183041"/>
          </a:solidFill>
          <a:ln/>
        </p:spPr>
      </p:sp>
      <p:sp>
        <p:nvSpPr>
          <p:cNvPr id="5" name="Text 3"/>
          <p:cNvSpPr/>
          <p:nvPr/>
        </p:nvSpPr>
        <p:spPr>
          <a:xfrm>
            <a:off x="1066800" y="2997002"/>
            <a:ext cx="2079879"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F3EFE6"/>
                </a:solidFill>
                <a:latin typeface="IBM Plex Sans" pitchFamily="34" charset="0"/>
                <a:ea typeface="IBM Plex Sans" pitchFamily="34" charset="-122"/>
                <a:cs typeface="IBM Plex Sans" pitchFamily="34" charset="-120"/>
              </a:rPr>
              <a:t>Arizona</a:t>
            </a:r>
            <a:endParaRPr lang="en-US" sz="2200" dirty="0"/>
          </a:p>
        </p:txBody>
      </p:sp>
      <p:sp>
        <p:nvSpPr>
          <p:cNvPr id="6" name="Text 4"/>
          <p:cNvSpPr/>
          <p:nvPr/>
        </p:nvSpPr>
        <p:spPr>
          <a:xfrm>
            <a:off x="1066800" y="3408462"/>
            <a:ext cx="2079879"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8C4CE"/>
                </a:solidFill>
                <a:latin typeface="IBM Plex Sans" pitchFamily="34" charset="0"/>
                <a:ea typeface="IBM Plex Sans" pitchFamily="34" charset="-122"/>
                <a:cs typeface="IBM Plex Sans" pitchFamily="34" charset="-120"/>
              </a:rPr>
              <a:t>New suppliers to qualify</a:t>
            </a:r>
            <a:endParaRPr lang="en-US" sz="1400" dirty="0"/>
          </a:p>
        </p:txBody>
      </p:sp>
      <p:sp>
        <p:nvSpPr>
          <p:cNvPr id="7" name="Shape 5"/>
          <p:cNvSpPr/>
          <p:nvPr/>
        </p:nvSpPr>
        <p:spPr>
          <a:xfrm>
            <a:off x="3492500" y="2743002"/>
            <a:ext cx="2527300" cy="1168301"/>
          </a:xfrm>
          <a:prstGeom prst="roundRect">
            <a:avLst>
              <a:gd name="adj" fmla="val 8696"/>
            </a:avLst>
          </a:prstGeom>
          <a:solidFill>
            <a:srgbClr val="183041"/>
          </a:solidFill>
          <a:ln/>
        </p:spPr>
      </p:sp>
      <p:sp>
        <p:nvSpPr>
          <p:cNvPr id="8" name="Text 6"/>
          <p:cNvSpPr/>
          <p:nvPr/>
        </p:nvSpPr>
        <p:spPr>
          <a:xfrm>
            <a:off x="3746500" y="2997002"/>
            <a:ext cx="2079879"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F3EFE6"/>
                </a:solidFill>
                <a:latin typeface="IBM Plex Sans" pitchFamily="34" charset="0"/>
                <a:ea typeface="IBM Plex Sans" pitchFamily="34" charset="-122"/>
                <a:cs typeface="IBM Plex Sans" pitchFamily="34" charset="-120"/>
              </a:rPr>
              <a:t>Texas</a:t>
            </a:r>
            <a:endParaRPr lang="en-US" sz="2200" dirty="0"/>
          </a:p>
        </p:txBody>
      </p:sp>
      <p:sp>
        <p:nvSpPr>
          <p:cNvPr id="9" name="Text 7"/>
          <p:cNvSpPr/>
          <p:nvPr/>
        </p:nvSpPr>
        <p:spPr>
          <a:xfrm>
            <a:off x="3746500" y="3408462"/>
            <a:ext cx="2079879"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8C4CE"/>
                </a:solidFill>
                <a:latin typeface="IBM Plex Sans" pitchFamily="34" charset="0"/>
                <a:ea typeface="IBM Plex Sans" pitchFamily="34" charset="-122"/>
                <a:cs typeface="IBM Plex Sans" pitchFamily="34" charset="-120"/>
              </a:rPr>
              <a:t>New routes to certify</a:t>
            </a:r>
            <a:endParaRPr lang="en-US" sz="1400" dirty="0"/>
          </a:p>
        </p:txBody>
      </p:sp>
      <p:sp>
        <p:nvSpPr>
          <p:cNvPr id="10" name="Shape 8"/>
          <p:cNvSpPr/>
          <p:nvPr/>
        </p:nvSpPr>
        <p:spPr>
          <a:xfrm>
            <a:off x="6172200" y="2743002"/>
            <a:ext cx="2527300" cy="1168301"/>
          </a:xfrm>
          <a:prstGeom prst="roundRect">
            <a:avLst>
              <a:gd name="adj" fmla="val 8696"/>
            </a:avLst>
          </a:prstGeom>
          <a:solidFill>
            <a:srgbClr val="183041"/>
          </a:solidFill>
          <a:ln/>
        </p:spPr>
      </p:sp>
      <p:sp>
        <p:nvSpPr>
          <p:cNvPr id="11" name="Text 9"/>
          <p:cNvSpPr/>
          <p:nvPr/>
        </p:nvSpPr>
        <p:spPr>
          <a:xfrm>
            <a:off x="6426200" y="2997002"/>
            <a:ext cx="2079879"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F3EFE6"/>
                </a:solidFill>
                <a:latin typeface="IBM Plex Sans" pitchFamily="34" charset="0"/>
                <a:ea typeface="IBM Plex Sans" pitchFamily="34" charset="-122"/>
                <a:cs typeface="IBM Plex Sans" pitchFamily="34" charset="-120"/>
              </a:rPr>
              <a:t>Ohio</a:t>
            </a:r>
            <a:endParaRPr lang="en-US" sz="2200" dirty="0"/>
          </a:p>
        </p:txBody>
      </p:sp>
      <p:sp>
        <p:nvSpPr>
          <p:cNvPr id="12" name="Text 10"/>
          <p:cNvSpPr/>
          <p:nvPr/>
        </p:nvSpPr>
        <p:spPr>
          <a:xfrm>
            <a:off x="6426200" y="3408462"/>
            <a:ext cx="2079879"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8C4CE"/>
                </a:solidFill>
                <a:latin typeface="IBM Plex Sans" pitchFamily="34" charset="0"/>
                <a:ea typeface="IBM Plex Sans" pitchFamily="34" charset="-122"/>
                <a:cs typeface="IBM Plex Sans" pitchFamily="34" charset="-120"/>
              </a:rPr>
              <a:t>New logistics lanes</a:t>
            </a:r>
            <a:endParaRPr lang="en-US" sz="1400" dirty="0"/>
          </a:p>
        </p:txBody>
      </p:sp>
      <p:sp>
        <p:nvSpPr>
          <p:cNvPr id="13" name="Shape 11"/>
          <p:cNvSpPr/>
          <p:nvPr/>
        </p:nvSpPr>
        <p:spPr>
          <a:xfrm>
            <a:off x="8851900" y="2743002"/>
            <a:ext cx="2527300" cy="1168301"/>
          </a:xfrm>
          <a:prstGeom prst="roundRect">
            <a:avLst>
              <a:gd name="adj" fmla="val 8696"/>
            </a:avLst>
          </a:prstGeom>
          <a:solidFill>
            <a:srgbClr val="183041"/>
          </a:solidFill>
          <a:ln/>
        </p:spPr>
      </p:sp>
      <p:sp>
        <p:nvSpPr>
          <p:cNvPr id="14" name="Text 12"/>
          <p:cNvSpPr/>
          <p:nvPr/>
        </p:nvSpPr>
        <p:spPr>
          <a:xfrm>
            <a:off x="9105900" y="2997002"/>
            <a:ext cx="2079879"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F3EFE6"/>
                </a:solidFill>
                <a:latin typeface="IBM Plex Sans" pitchFamily="34" charset="0"/>
                <a:ea typeface="IBM Plex Sans" pitchFamily="34" charset="-122"/>
                <a:cs typeface="IBM Plex Sans" pitchFamily="34" charset="-120"/>
              </a:rPr>
              <a:t>New York</a:t>
            </a:r>
            <a:endParaRPr lang="en-US" sz="2200" dirty="0"/>
          </a:p>
        </p:txBody>
      </p:sp>
      <p:sp>
        <p:nvSpPr>
          <p:cNvPr id="15" name="Text 13"/>
          <p:cNvSpPr/>
          <p:nvPr/>
        </p:nvSpPr>
        <p:spPr>
          <a:xfrm>
            <a:off x="9105900" y="3408462"/>
            <a:ext cx="2079879"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8C4CE"/>
                </a:solidFill>
                <a:latin typeface="IBM Plex Sans" pitchFamily="34" charset="0"/>
                <a:ea typeface="IBM Plex Sans" pitchFamily="34" charset="-122"/>
                <a:cs typeface="IBM Plex Sans" pitchFamily="34" charset="-120"/>
              </a:rPr>
              <a:t>New compliance paths</a:t>
            </a:r>
            <a:endParaRPr lang="en-US" sz="1400" dirty="0"/>
          </a:p>
        </p:txBody>
      </p:sp>
      <p:sp>
        <p:nvSpPr>
          <p:cNvPr id="16" name="Text 14"/>
          <p:cNvSpPr/>
          <p:nvPr/>
        </p:nvSpPr>
        <p:spPr>
          <a:xfrm>
            <a:off x="812800" y="4266902"/>
            <a:ext cx="10883392"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B8C4CE"/>
                </a:solidFill>
                <a:latin typeface="IBM Plex Sans" pitchFamily="34" charset="0"/>
                <a:ea typeface="IBM Plex Sans" pitchFamily="34" charset="-122"/>
                <a:cs typeface="IBM Plex Sans" pitchFamily="34" charset="-120"/>
              </a:rPr>
              <a:t>Each site needs allocation tracking, multi-tier risk monitoring and export compliance on day one. Almost none of that tooling exists.</a:t>
            </a:r>
            <a:endParaRPr lang="en-US" sz="1600" dirty="0"/>
          </a:p>
        </p:txBody>
      </p:sp>
      <p:sp>
        <p:nvSpPr>
          <p:cNvPr id="17" name="Text 15"/>
          <p:cNvSpPr/>
          <p:nvPr/>
        </p:nvSpPr>
        <p:spPr>
          <a:xfrm>
            <a:off x="812800" y="6238280"/>
            <a:ext cx="203454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A0AD"/>
                </a:solidFill>
                <a:latin typeface="IBM Plex Sans" pitchFamily="34" charset="0"/>
                <a:ea typeface="IBM Plex Sans" pitchFamily="34" charset="-122"/>
                <a:cs typeface="IBM Plex Sans" pitchFamily="34" charset="-120"/>
              </a:rPr>
              <a:t>Source: problem brief · 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3EFE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9A5B08"/>
                </a:solidFill>
                <a:latin typeface="IBM Plex Sans" pitchFamily="34" charset="0"/>
                <a:ea typeface="IBM Plex Sans" pitchFamily="34" charset="-122"/>
                <a:cs typeface="IBM Plex Sans" pitchFamily="34" charset="-120"/>
              </a:rPr>
              <a:t>PROBLEM 5 OF 5 · ITERATION SPEED</a:t>
            </a:r>
            <a:endParaRPr lang="en-US" sz="1200" dirty="0"/>
          </a:p>
        </p:txBody>
      </p:sp>
      <p:sp>
        <p:nvSpPr>
          <p:cNvPr id="3" name="Text 1"/>
          <p:cNvSpPr/>
          <p:nvPr>
            <p:ph type="title"/>
          </p:nvPr>
        </p:nvSpPr>
        <p:spPr>
          <a:xfrm>
            <a:off x="812800" y="1381720"/>
            <a:ext cx="10883392" cy="103108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2B"/>
                </a:solidFill>
                <a:latin typeface="Space Grotesk" pitchFamily="34" charset="0"/>
                <a:ea typeface="Space Grotesk" pitchFamily="34" charset="-122"/>
                <a:cs typeface="Space Grotesk" pitchFamily="34" charset="-120"/>
              </a:rPr>
              <a:t>Hardware teams in the US iterate in weeks. Shenzhen does it in a day.</a:t>
            </a:r>
            <a:endParaRPr lang="en-US" sz="3600" dirty="0"/>
          </a:p>
        </p:txBody>
      </p:sp>
      <p:sp>
        <p:nvSpPr>
          <p:cNvPr id="4" name="Shape 2"/>
          <p:cNvSpPr/>
          <p:nvPr/>
        </p:nvSpPr>
        <p:spPr>
          <a:xfrm>
            <a:off x="815975" y="2746177"/>
            <a:ext cx="5175250" cy="1769070"/>
          </a:xfrm>
          <a:prstGeom prst="roundRect">
            <a:avLst>
              <a:gd name="adj" fmla="val 5564"/>
            </a:avLst>
          </a:prstGeom>
          <a:solidFill>
            <a:srgbClr val="FFFDF8"/>
          </a:solidFill>
          <a:ln w="6350">
            <a:solidFill>
              <a:srgbClr val="D9D3C4"/>
            </a:solidFill>
            <a:prstDash val="solid"/>
          </a:ln>
        </p:spPr>
      </p:sp>
      <p:sp>
        <p:nvSpPr>
          <p:cNvPr id="5" name="Text 3"/>
          <p:cNvSpPr/>
          <p:nvPr/>
        </p:nvSpPr>
        <p:spPr>
          <a:xfrm>
            <a:off x="1073150" y="3003352"/>
            <a:ext cx="4800727"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14212B"/>
                </a:solidFill>
                <a:latin typeface="Space Grotesk" pitchFamily="34" charset="0"/>
                <a:ea typeface="Space Grotesk" pitchFamily="34" charset="-122"/>
                <a:cs typeface="Space Grotesk" pitchFamily="34" charset="-120"/>
              </a:rPr>
              <a:t>1 day</a:t>
            </a:r>
            <a:endParaRPr lang="en-US" sz="4800" dirty="0"/>
          </a:p>
        </p:txBody>
      </p:sp>
      <p:sp>
        <p:nvSpPr>
          <p:cNvPr id="6" name="Text 4"/>
          <p:cNvSpPr/>
          <p:nvPr/>
        </p:nvSpPr>
        <p:spPr>
          <a:xfrm>
            <a:off x="1073150" y="3689152"/>
            <a:ext cx="4800727"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6525C"/>
                </a:solidFill>
                <a:latin typeface="IBM Plex Sans" pitchFamily="34" charset="0"/>
                <a:ea typeface="IBM Plex Sans" pitchFamily="34" charset="-122"/>
                <a:cs typeface="IBM Plex Sans" pitchFamily="34" charset="-120"/>
              </a:rPr>
              <a:t>design to physical part in Shenzhen</a:t>
            </a:r>
            <a:endParaRPr lang="en-US" sz="1600" dirty="0"/>
          </a:p>
        </p:txBody>
      </p:sp>
      <p:sp>
        <p:nvSpPr>
          <p:cNvPr id="7" name="Shape 5"/>
          <p:cNvSpPr/>
          <p:nvPr/>
        </p:nvSpPr>
        <p:spPr>
          <a:xfrm>
            <a:off x="6200775" y="2746177"/>
            <a:ext cx="5175250" cy="1769070"/>
          </a:xfrm>
          <a:prstGeom prst="roundRect">
            <a:avLst>
              <a:gd name="adj" fmla="val 5564"/>
            </a:avLst>
          </a:prstGeom>
          <a:solidFill>
            <a:srgbClr val="FFFDF8"/>
          </a:solidFill>
          <a:ln w="6350">
            <a:solidFill>
              <a:srgbClr val="D9D3C4"/>
            </a:solidFill>
            <a:prstDash val="solid"/>
          </a:ln>
        </p:spPr>
      </p:sp>
      <p:sp>
        <p:nvSpPr>
          <p:cNvPr id="8" name="Text 6"/>
          <p:cNvSpPr/>
          <p:nvPr/>
        </p:nvSpPr>
        <p:spPr>
          <a:xfrm>
            <a:off x="6457950" y="3003352"/>
            <a:ext cx="4800727"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9A5B08"/>
                </a:solidFill>
                <a:latin typeface="Space Grotesk" pitchFamily="34" charset="0"/>
                <a:ea typeface="Space Grotesk" pitchFamily="34" charset="-122"/>
                <a:cs typeface="Space Grotesk" pitchFamily="34" charset="-120"/>
              </a:rPr>
              <a:t>Weeks</a:t>
            </a:r>
            <a:endParaRPr lang="en-US" sz="4800" dirty="0"/>
          </a:p>
        </p:txBody>
      </p:sp>
      <p:sp>
        <p:nvSpPr>
          <p:cNvPr id="9" name="Text 7"/>
          <p:cNvSpPr/>
          <p:nvPr/>
        </p:nvSpPr>
        <p:spPr>
          <a:xfrm>
            <a:off x="6457950" y="3689152"/>
            <a:ext cx="4800727"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6525C"/>
                </a:solidFill>
                <a:latin typeface="IBM Plex Sans" pitchFamily="34" charset="0"/>
                <a:ea typeface="IBM Plex Sans" pitchFamily="34" charset="-122"/>
                <a:cs typeface="IBM Plex Sans" pitchFamily="34" charset="-120"/>
              </a:rPr>
              <a:t>for the same loop in the US, and the gap compounds</a:t>
            </a:r>
            <a:endParaRPr lang="en-US" sz="1600" dirty="0"/>
          </a:p>
        </p:txBody>
      </p:sp>
      <p:sp>
        <p:nvSpPr>
          <p:cNvPr id="10" name="Text 8"/>
          <p:cNvSpPr/>
          <p:nvPr/>
        </p:nvSpPr>
        <p:spPr>
          <a:xfrm>
            <a:off x="812800" y="4874022"/>
            <a:ext cx="10883392"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6525C"/>
                </a:solidFill>
                <a:latin typeface="IBM Plex Sans" pitchFamily="34" charset="0"/>
                <a:ea typeface="IBM Plex Sans" pitchFamily="34" charset="-122"/>
                <a:cs typeface="IBM Plex Sans" pitchFamily="34" charset="-120"/>
              </a:rPr>
              <a:t>Dense supplier networks, rapid turnaround, tight design-to-production coordination. The missing stack links design, manufacturing and logistics.</a:t>
            </a:r>
            <a:endParaRPr lang="en-US" sz="1600" dirty="0"/>
          </a:p>
        </p:txBody>
      </p:sp>
      <p:sp>
        <p:nvSpPr>
          <p:cNvPr id="11" name="Text 9"/>
          <p:cNvSpPr/>
          <p:nvPr/>
        </p:nvSpPr>
        <p:spPr>
          <a:xfrm>
            <a:off x="812800" y="6238280"/>
            <a:ext cx="203454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79"/>
                </a:solidFill>
                <a:latin typeface="IBM Plex Sans" pitchFamily="34" charset="0"/>
                <a:ea typeface="IBM Plex Sans" pitchFamily="34" charset="-122"/>
                <a:cs typeface="IBM Plex Sans" pitchFamily="34" charset="-120"/>
              </a:rPr>
              <a:t>Source: problem brief · 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3EFE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9A5B08"/>
                </a:solidFill>
                <a:latin typeface="IBM Plex Sans" pitchFamily="34" charset="0"/>
                <a:ea typeface="IBM Plex Sans" pitchFamily="34" charset="-122"/>
                <a:cs typeface="IBM Plex Sans" pitchFamily="34" charset="-120"/>
              </a:rPr>
              <a:t>PROBLEM STATEMENT, END TO END</a:t>
            </a:r>
            <a:endParaRPr lang="en-US" sz="1200" dirty="0"/>
          </a:p>
        </p:txBody>
      </p:sp>
      <p:sp>
        <p:nvSpPr>
          <p:cNvPr id="3" name="Text 1"/>
          <p:cNvSpPr/>
          <p:nvPr>
            <p:ph type="title"/>
          </p:nvPr>
        </p:nvSpPr>
        <p:spPr>
          <a:xfrm>
            <a:off x="812800" y="12801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2B"/>
                </a:solidFill>
                <a:latin typeface="Space Grotesk" pitchFamily="34" charset="0"/>
                <a:ea typeface="Space Grotesk" pitchFamily="34" charset="-122"/>
                <a:cs typeface="Space Grotesk" pitchFamily="34" charset="-120"/>
              </a:rPr>
              <a:t>Five problems, one missing layer</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993801"/>
          <a:ext cx="10553700" cy="2315766"/>
        </p:xfrm>
        <a:graphic>
          <a:graphicData uri="http://schemas.openxmlformats.org/drawingml/2006/table">
            <a:tbl>
              <a:tblPr/>
              <a:tblGrid>
                <a:gridCol w="2321814"/>
                <a:gridCol w="3588258"/>
                <a:gridCol w="4643628"/>
              </a:tblGrid>
              <a:tr h="385961">
                <a:tc>
                  <a:txBody>
                    <a:bodyPr/>
                    <a:lstStyle/>
                    <a:p>
                      <a:pPr indent="0" marL="0">
                        <a:lnSpc>
                          <a:spcPts val="1960"/>
                        </a:lnSpc>
                        <a:buNone/>
                      </a:pPr>
                      <a:r>
                        <a:rPr lang="en-US" sz="1400" b="1" dirty="0">
                          <a:solidFill>
                            <a:srgbClr val="14212B"/>
                          </a:solidFill>
                          <a:latin typeface="IBM Plex Sans" pitchFamily="34" charset="0"/>
                          <a:ea typeface="IBM Plex Sans" pitchFamily="34" charset="-122"/>
                          <a:cs typeface="IBM Plex Sans" pitchFamily="34" charset="-120"/>
                        </a:rPr>
                        <a:t>Problem</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2BFB8"/>
                      </a:solidFill>
                      <a:prstDash val="solid"/>
                      <a:round/>
                      <a:headEnd type="none" w="med" len="med"/>
                      <a:tailEnd type="none" w="med" len="med"/>
                    </a:lnL>
                    <a:lnR w="12700" cap="flat" cmpd="sng" algn="ctr">
                      <a:solidFill>
                        <a:srgbClr val="B4B1AA"/>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4B1AA"/>
                      </a:solidFill>
                      <a:prstDash val="solid"/>
                      <a:round/>
                      <a:headEnd type="none" w="med" len="med"/>
                      <a:tailEnd type="none" w="med" len="med"/>
                    </a:lnB>
                    <a:solidFill>
                      <a:srgbClr val="E1DDD5"/>
                    </a:solidFill>
                  </a:tcPr>
                </a:tc>
                <a:tc>
                  <a:txBody>
                    <a:bodyPr/>
                    <a:lstStyle/>
                    <a:p>
                      <a:pPr indent="0" marL="0">
                        <a:lnSpc>
                          <a:spcPts val="1960"/>
                        </a:lnSpc>
                        <a:buNone/>
                      </a:pPr>
                      <a:r>
                        <a:rPr lang="en-US" sz="1400" b="1" dirty="0">
                          <a:solidFill>
                            <a:srgbClr val="14212B"/>
                          </a:solidFill>
                          <a:latin typeface="IBM Plex Sans" pitchFamily="34" charset="0"/>
                          <a:ea typeface="IBM Plex Sans" pitchFamily="34" charset="-122"/>
                          <a:cs typeface="IBM Plex Sans" pitchFamily="34" charset="-120"/>
                        </a:rPr>
                        <a:t>Missing capability</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4B1AA"/>
                      </a:solidFill>
                      <a:prstDash val="solid"/>
                      <a:round/>
                      <a:headEnd type="none" w="med" len="med"/>
                      <a:tailEnd type="none" w="med" len="med"/>
                    </a:lnL>
                    <a:lnR w="12700" cap="flat" cmpd="sng" algn="ctr">
                      <a:solidFill>
                        <a:srgbClr val="B4B1AA"/>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4B1AA"/>
                      </a:solidFill>
                      <a:prstDash val="solid"/>
                      <a:round/>
                      <a:headEnd type="none" w="med" len="med"/>
                      <a:tailEnd type="none" w="med" len="med"/>
                    </a:lnB>
                    <a:solidFill>
                      <a:srgbClr val="E1DDD5"/>
                    </a:solidFill>
                  </a:tcPr>
                </a:tc>
                <a:tc>
                  <a:txBody>
                    <a:bodyPr/>
                    <a:lstStyle/>
                    <a:p>
                      <a:pPr indent="0" marL="0">
                        <a:lnSpc>
                          <a:spcPts val="1960"/>
                        </a:lnSpc>
                        <a:buNone/>
                      </a:pPr>
                      <a:r>
                        <a:rPr lang="en-US" sz="1400" b="1" dirty="0">
                          <a:solidFill>
                            <a:srgbClr val="14212B"/>
                          </a:solidFill>
                          <a:latin typeface="IBM Plex Sans" pitchFamily="34" charset="0"/>
                          <a:ea typeface="IBM Plex Sans" pitchFamily="34" charset="-122"/>
                          <a:cs typeface="IBM Plex Sans" pitchFamily="34" charset="-120"/>
                        </a:rPr>
                        <a:t>SiliconFlow answer</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4B1AA"/>
                      </a:solidFill>
                      <a:prstDash val="solid"/>
                      <a:round/>
                      <a:headEnd type="none" w="med" len="med"/>
                      <a:tailEnd type="none" w="med" len="med"/>
                    </a:lnL>
                    <a:lnR w="12700" cap="flat" cmpd="sng" algn="ctr">
                      <a:solidFill>
                        <a:srgbClr val="B4B1AA"/>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4B1AA"/>
                      </a:solidFill>
                      <a:prstDash val="solid"/>
                      <a:round/>
                      <a:headEnd type="none" w="med" len="med"/>
                      <a:tailEnd type="none" w="med" len="med"/>
                    </a:lnB>
                    <a:solidFill>
                      <a:srgbClr val="E1DDD5"/>
                    </a:solidFill>
                  </a:tcPr>
                </a:tc>
              </a:tr>
              <a:tr h="385961">
                <a:tc>
                  <a:txBody>
                    <a:bodyPr/>
                    <a:lstStyle/>
                    <a:p>
                      <a:pPr indent="0" marL="0">
                        <a:lnSpc>
                          <a:spcPts val="1960"/>
                        </a:lnSpc>
                        <a:buNone/>
                      </a:pPr>
                      <a:r>
                        <a:rPr lang="en-US" sz="1400" dirty="0">
                          <a:solidFill>
                            <a:srgbClr val="14212B"/>
                          </a:solidFill>
                          <a:latin typeface="IBM Plex Sans" pitchFamily="34" charset="0"/>
                          <a:ea typeface="IBM Plex Sans" pitchFamily="34" charset="-122"/>
                          <a:cs typeface="IBM Plex Sans" pitchFamily="34" charset="-120"/>
                        </a:rPr>
                        <a:t>Fragile chain</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4B1AA"/>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indent="0" marL="0">
                        <a:lnSpc>
                          <a:spcPts val="1960"/>
                        </a:lnSpc>
                        <a:buNone/>
                      </a:pPr>
                      <a:r>
                        <a:rPr lang="en-US" sz="1400" dirty="0">
                          <a:solidFill>
                            <a:srgbClr val="14212B"/>
                          </a:solidFill>
                          <a:latin typeface="IBM Plex Sans" pitchFamily="34" charset="0"/>
                          <a:ea typeface="IBM Plex Sans" pitchFamily="34" charset="-122"/>
                          <a:cs typeface="IBM Plex Sans" pitchFamily="34" charset="-120"/>
                        </a:rPr>
                        <a:t>Early warning and options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4B1AA"/>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indent="0" marL="0">
                        <a:lnSpc>
                          <a:spcPts val="1960"/>
                        </a:lnSpc>
                        <a:buNone/>
                      </a:pPr>
                      <a:r>
                        <a:rPr lang="en-US" sz="1400" dirty="0">
                          <a:solidFill>
                            <a:srgbClr val="14212B"/>
                          </a:solidFill>
                          <a:latin typeface="IBM Plex Sans" pitchFamily="34" charset="0"/>
                          <a:ea typeface="IBM Plex Sans" pitchFamily="34" charset="-122"/>
                          <a:cs typeface="IBM Plex Sans" pitchFamily="34" charset="-120"/>
                        </a:rPr>
                        <a:t>Event to impact to ranked recovery plans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4B1AA"/>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r>
              <a:tr h="385961">
                <a:tc>
                  <a:txBody>
                    <a:bodyPr/>
                    <a:lstStyle/>
                    <a:p>
                      <a:pPr indent="0" marL="0">
                        <a:lnSpc>
                          <a:spcPts val="1960"/>
                        </a:lnSpc>
                        <a:buNone/>
                      </a:pPr>
                      <a:r>
                        <a:rPr lang="en-US" sz="1400" dirty="0">
                          <a:solidFill>
                            <a:srgbClr val="14212B"/>
                          </a:solidFill>
                          <a:latin typeface="IBM Plex Sans" pitchFamily="34" charset="0"/>
                          <a:ea typeface="IBM Plex Sans" pitchFamily="34" charset="-122"/>
                          <a:cs typeface="IBM Plex Sans" pitchFamily="34" charset="-120"/>
                        </a:rPr>
                        <a:t>Tier 2-3 blind</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indent="0" marL="0">
                        <a:lnSpc>
                          <a:spcPts val="1960"/>
                        </a:lnSpc>
                        <a:buNone/>
                      </a:pPr>
                      <a:r>
                        <a:rPr lang="en-US" sz="1400" dirty="0">
                          <a:solidFill>
                            <a:srgbClr val="14212B"/>
                          </a:solidFill>
                          <a:latin typeface="IBM Plex Sans" pitchFamily="34" charset="0"/>
                          <a:ea typeface="IBM Plex Sans" pitchFamily="34" charset="-122"/>
                          <a:cs typeface="IBM Plex Sans" pitchFamily="34" charset="-120"/>
                        </a:rPr>
                        <a:t>Multi-tier risk signals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indent="0" marL="0">
                        <a:lnSpc>
                          <a:spcPts val="1960"/>
                        </a:lnSpc>
                        <a:buNone/>
                      </a:pPr>
                      <a:r>
                        <a:rPr lang="en-US" sz="1400" dirty="0">
                          <a:solidFill>
                            <a:srgbClr val="14212B"/>
                          </a:solidFill>
                          <a:latin typeface="IBM Plex Sans" pitchFamily="34" charset="0"/>
                          <a:ea typeface="IBM Plex Sans" pitchFamily="34" charset="-122"/>
                          <a:cs typeface="IBM Plex Sans" pitchFamily="34" charset="-120"/>
                        </a:rPr>
                        <a:t>Sourced events, conflicts, supplier confirmations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r>
              <a:tr h="385961">
                <a:tc>
                  <a:txBody>
                    <a:bodyPr/>
                    <a:lstStyle/>
                    <a:p>
                      <a:pPr indent="0" marL="0">
                        <a:lnSpc>
                          <a:spcPts val="1960"/>
                        </a:lnSpc>
                        <a:buNone/>
                      </a:pPr>
                      <a:r>
                        <a:rPr lang="en-US" sz="1400" dirty="0">
                          <a:solidFill>
                            <a:srgbClr val="14212B"/>
                          </a:solidFill>
                          <a:latin typeface="IBM Plex Sans" pitchFamily="34" charset="0"/>
                          <a:ea typeface="IBM Plex Sans" pitchFamily="34" charset="-122"/>
                          <a:cs typeface="IBM Plex Sans" pitchFamily="34" charset="-120"/>
                        </a:rPr>
                        <a:t>Scarce slots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indent="0" marL="0">
                        <a:lnSpc>
                          <a:spcPts val="1960"/>
                        </a:lnSpc>
                        <a:buNone/>
                      </a:pPr>
                      <a:r>
                        <a:rPr lang="en-US" sz="1400" dirty="0">
                          <a:solidFill>
                            <a:srgbClr val="14212B"/>
                          </a:solidFill>
                          <a:latin typeface="IBM Plex Sans" pitchFamily="34" charset="0"/>
                          <a:ea typeface="IBM Plex Sans" pitchFamily="34" charset="-122"/>
                          <a:cs typeface="IBM Plex Sans" pitchFamily="34" charset="-120"/>
                        </a:rPr>
                        <a:t>Real-time allocation</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indent="0" marL="0">
                        <a:lnSpc>
                          <a:spcPts val="1960"/>
                        </a:lnSpc>
                        <a:buNone/>
                      </a:pPr>
                      <a:r>
                        <a:rPr lang="en-US" sz="1400" dirty="0">
                          <a:solidFill>
                            <a:srgbClr val="14212B"/>
                          </a:solidFill>
                          <a:latin typeface="IBM Plex Sans" pitchFamily="34" charset="0"/>
                          <a:ea typeface="IBM Plex Sans" pitchFamily="34" charset="-122"/>
                          <a:cs typeface="IBM Plex Sans" pitchFamily="34" charset="-120"/>
                        </a:rPr>
                        <a:t>Constraint solver per order, route and week</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r>
              <a:tr h="385961">
                <a:tc>
                  <a:txBody>
                    <a:bodyPr/>
                    <a:lstStyle/>
                    <a:p>
                      <a:pPr indent="0" marL="0">
                        <a:lnSpc>
                          <a:spcPts val="1960"/>
                        </a:lnSpc>
                        <a:buNone/>
                      </a:pPr>
                      <a:r>
                        <a:rPr lang="en-US" sz="1400" dirty="0">
                          <a:solidFill>
                            <a:srgbClr val="14212B"/>
                          </a:solidFill>
                          <a:latin typeface="IBM Plex Sans" pitchFamily="34" charset="0"/>
                          <a:ea typeface="IBM Plex Sans" pitchFamily="34" charset="-122"/>
                          <a:cs typeface="IBM Plex Sans" pitchFamily="34" charset="-120"/>
                        </a:rPr>
                        <a:t>Export rules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indent="0" marL="0">
                        <a:lnSpc>
                          <a:spcPts val="1960"/>
                        </a:lnSpc>
                        <a:buNone/>
                      </a:pPr>
                      <a:r>
                        <a:rPr lang="en-US" sz="1400" dirty="0">
                          <a:solidFill>
                            <a:srgbClr val="14212B"/>
                          </a:solidFill>
                          <a:latin typeface="IBM Plex Sans" pitchFamily="34" charset="0"/>
                          <a:ea typeface="IBM Plex Sans" pitchFamily="34" charset="-122"/>
                          <a:cs typeface="IBM Plex Sans" pitchFamily="34" charset="-120"/>
                        </a:rPr>
                        <a:t>Compliance gating</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indent="0" marL="0">
                        <a:lnSpc>
                          <a:spcPts val="1960"/>
                        </a:lnSpc>
                        <a:buNone/>
                      </a:pPr>
                      <a:r>
                        <a:rPr lang="en-US" sz="1400" dirty="0">
                          <a:solidFill>
                            <a:srgbClr val="14212B"/>
                          </a:solidFill>
                          <a:latin typeface="IBM Plex Sans" pitchFamily="34" charset="0"/>
                          <a:ea typeface="IBM Plex Sans" pitchFamily="34" charset="-122"/>
                          <a:cs typeface="IBM Plex Sans" pitchFamily="34" charset="-120"/>
                        </a:rPr>
                        <a:t>Held orders get no supply; evidence kept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r>
              <a:tr h="385961">
                <a:tc>
                  <a:txBody>
                    <a:bodyPr/>
                    <a:lstStyle/>
                    <a:p>
                      <a:pPr indent="0" marL="0">
                        <a:lnSpc>
                          <a:spcPts val="1960"/>
                        </a:lnSpc>
                        <a:buNone/>
                      </a:pPr>
                      <a:r>
                        <a:rPr lang="en-US" sz="1400" dirty="0">
                          <a:solidFill>
                            <a:srgbClr val="14212B"/>
                          </a:solidFill>
                          <a:latin typeface="IBM Plex Sans" pitchFamily="34" charset="0"/>
                          <a:ea typeface="IBM Plex Sans" pitchFamily="34" charset="-122"/>
                          <a:cs typeface="IBM Plex Sans" pitchFamily="34" charset="-120"/>
                        </a:rPr>
                        <a:t>Slow iteration</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indent="0" marL="0">
                        <a:lnSpc>
                          <a:spcPts val="1960"/>
                        </a:lnSpc>
                        <a:buNone/>
                      </a:pPr>
                      <a:r>
                        <a:rPr lang="en-US" sz="1400" dirty="0">
                          <a:solidFill>
                            <a:srgbClr val="14212B"/>
                          </a:solidFill>
                          <a:latin typeface="IBM Plex Sans" pitchFamily="34" charset="0"/>
                          <a:ea typeface="IBM Plex Sans" pitchFamily="34" charset="-122"/>
                          <a:cs typeface="IBM Plex Sans" pitchFamily="34" charset="-120"/>
                        </a:rPr>
                        <a:t>Design-to-supply loop</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indent="0" marL="0">
                        <a:lnSpc>
                          <a:spcPts val="1960"/>
                        </a:lnSpc>
                        <a:buNone/>
                      </a:pPr>
                      <a:r>
                        <a:rPr lang="en-US" sz="1400" dirty="0">
                          <a:solidFill>
                            <a:srgbClr val="14212B"/>
                          </a:solidFill>
                          <a:latin typeface="IBM Plex Sans" pitchFamily="34" charset="0"/>
                          <a:ea typeface="IBM Plex Sans" pitchFamily="34" charset="-122"/>
                          <a:cs typeface="IBM Plex Sans" pitchFamily="34" charset="-120"/>
                        </a:rPr>
                        <a:t>Roadmap: same event and approval model</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r>
            </a:tbl>
          </a:graphicData>
        </a:graphic>
      </p:graphicFrame>
      <p:sp>
        <p:nvSpPr>
          <p:cNvPr id="5" name="Text 2"/>
          <p:cNvSpPr/>
          <p:nvPr/>
        </p:nvSpPr>
        <p:spPr>
          <a:xfrm>
            <a:off x="812800" y="6238280"/>
            <a:ext cx="390715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79"/>
                </a:solidFill>
                <a:latin typeface="IBM Plex Sans" pitchFamily="34" charset="0"/>
                <a:ea typeface="IBM Plex Sans" pitchFamily="34" charset="-122"/>
                <a:cs typeface="IBM Plex Sans" pitchFamily="34" charset="-120"/>
              </a:rPr>
              <a:t>Sources: problem briefs; repository README · 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F1B2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E9A23B"/>
                </a:solidFill>
                <a:latin typeface="IBM Plex Sans" pitchFamily="34" charset="0"/>
                <a:ea typeface="IBM Plex Sans" pitchFamily="34" charset="-122"/>
                <a:cs typeface="IBM Plex Sans" pitchFamily="34" charset="-120"/>
              </a:rPr>
              <a:t>THE PLATFORM</a:t>
            </a:r>
            <a:endParaRPr lang="en-US" sz="1200" dirty="0"/>
          </a:p>
        </p:txBody>
      </p:sp>
      <p:sp>
        <p:nvSpPr>
          <p:cNvPr id="3" name="Text 1"/>
          <p:cNvSpPr/>
          <p:nvPr>
            <p:ph type="title"/>
          </p:nvPr>
        </p:nvSpPr>
        <p:spPr>
          <a:xfrm>
            <a:off x="812800" y="1381720"/>
            <a:ext cx="11379200"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3EFE6"/>
                </a:solidFill>
                <a:latin typeface="Space Grotesk" pitchFamily="34" charset="0"/>
                <a:ea typeface="Space Grotesk" pitchFamily="34" charset="-122"/>
                <a:cs typeface="Space Grotesk" pitchFamily="34" charset="-120"/>
              </a:rPr>
              <a:t>Signal to action to learning, as one closed loop</a:t>
            </a:r>
            <a:endParaRPr lang="en-US" sz="3600" dirty="0"/>
          </a:p>
        </p:txBody>
      </p:sp>
      <p:sp>
        <p:nvSpPr>
          <p:cNvPr id="4" name="Shape 2"/>
          <p:cNvSpPr/>
          <p:nvPr/>
        </p:nvSpPr>
        <p:spPr>
          <a:xfrm>
            <a:off x="812800" y="2240161"/>
            <a:ext cx="1676400" cy="1361877"/>
          </a:xfrm>
          <a:prstGeom prst="roundRect">
            <a:avLst>
              <a:gd name="adj" fmla="val 7460"/>
            </a:avLst>
          </a:prstGeom>
          <a:solidFill>
            <a:srgbClr val="183041"/>
          </a:solidFill>
          <a:ln/>
        </p:spPr>
      </p:sp>
      <p:sp>
        <p:nvSpPr>
          <p:cNvPr id="5" name="Text 3"/>
          <p:cNvSpPr/>
          <p:nvPr/>
        </p:nvSpPr>
        <p:spPr>
          <a:xfrm>
            <a:off x="990600" y="2417961"/>
            <a:ext cx="1371600"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E9A23B"/>
                </a:solidFill>
                <a:latin typeface="IBM Plex Sans" pitchFamily="34" charset="0"/>
                <a:ea typeface="IBM Plex Sans" pitchFamily="34" charset="-122"/>
                <a:cs typeface="IBM Plex Sans" pitchFamily="34" charset="-120"/>
              </a:rPr>
              <a:t>1 Signal</a:t>
            </a:r>
            <a:endParaRPr lang="en-US" sz="1800" dirty="0"/>
          </a:p>
        </p:txBody>
      </p:sp>
      <p:sp>
        <p:nvSpPr>
          <p:cNvPr id="6" name="Text 4"/>
          <p:cNvSpPr/>
          <p:nvPr/>
        </p:nvSpPr>
        <p:spPr>
          <a:xfrm>
            <a:off x="990600" y="2755702"/>
            <a:ext cx="1371600"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B8C4CE"/>
                </a:solidFill>
                <a:latin typeface="IBM Plex Sans" pitchFamily="34" charset="0"/>
                <a:ea typeface="IBM Plex Sans" pitchFamily="34" charset="-122"/>
                <a:cs typeface="IBM Plex Sans" pitchFamily="34" charset="-120"/>
              </a:rPr>
              <a:t>Notice, CSV or API event</a:t>
            </a:r>
            <a:endParaRPr lang="en-US" sz="1300" dirty="0"/>
          </a:p>
        </p:txBody>
      </p:sp>
      <p:sp>
        <p:nvSpPr>
          <p:cNvPr id="7" name="Shape 5"/>
          <p:cNvSpPr/>
          <p:nvPr/>
        </p:nvSpPr>
        <p:spPr>
          <a:xfrm>
            <a:off x="2590800" y="2240161"/>
            <a:ext cx="1676400" cy="1361877"/>
          </a:xfrm>
          <a:prstGeom prst="roundRect">
            <a:avLst>
              <a:gd name="adj" fmla="val 7460"/>
            </a:avLst>
          </a:prstGeom>
          <a:solidFill>
            <a:srgbClr val="183041"/>
          </a:solidFill>
          <a:ln/>
        </p:spPr>
      </p:sp>
      <p:sp>
        <p:nvSpPr>
          <p:cNvPr id="8" name="Text 6"/>
          <p:cNvSpPr/>
          <p:nvPr/>
        </p:nvSpPr>
        <p:spPr>
          <a:xfrm>
            <a:off x="2768600" y="2417961"/>
            <a:ext cx="1371600"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E9A23B"/>
                </a:solidFill>
                <a:latin typeface="IBM Plex Sans" pitchFamily="34" charset="0"/>
                <a:ea typeface="IBM Plex Sans" pitchFamily="34" charset="-122"/>
                <a:cs typeface="IBM Plex Sans" pitchFamily="34" charset="-120"/>
              </a:rPr>
              <a:t>2 Impact</a:t>
            </a:r>
            <a:endParaRPr lang="en-US" sz="1800" dirty="0"/>
          </a:p>
        </p:txBody>
      </p:sp>
      <p:sp>
        <p:nvSpPr>
          <p:cNvPr id="9" name="Text 7"/>
          <p:cNvSpPr/>
          <p:nvPr/>
        </p:nvSpPr>
        <p:spPr>
          <a:xfrm>
            <a:off x="2768600" y="2755702"/>
            <a:ext cx="1371600" cy="693936"/>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B8C4CE"/>
                </a:solidFill>
                <a:latin typeface="IBM Plex Sans" pitchFamily="34" charset="0"/>
                <a:ea typeface="IBM Plex Sans" pitchFamily="34" charset="-122"/>
                <a:cs typeface="IBM Plex Sans" pitchFamily="34" charset="-120"/>
              </a:rPr>
              <a:t>Orders at risk, binding constraint</a:t>
            </a:r>
            <a:endParaRPr lang="en-US" sz="1300" dirty="0"/>
          </a:p>
        </p:txBody>
      </p:sp>
      <p:sp>
        <p:nvSpPr>
          <p:cNvPr id="10" name="Shape 8"/>
          <p:cNvSpPr/>
          <p:nvPr/>
        </p:nvSpPr>
        <p:spPr>
          <a:xfrm>
            <a:off x="4368800" y="2240161"/>
            <a:ext cx="1676400" cy="1361877"/>
          </a:xfrm>
          <a:prstGeom prst="roundRect">
            <a:avLst>
              <a:gd name="adj" fmla="val 7460"/>
            </a:avLst>
          </a:prstGeom>
          <a:solidFill>
            <a:srgbClr val="183041"/>
          </a:solidFill>
          <a:ln/>
        </p:spPr>
      </p:sp>
      <p:sp>
        <p:nvSpPr>
          <p:cNvPr id="11" name="Text 9"/>
          <p:cNvSpPr/>
          <p:nvPr/>
        </p:nvSpPr>
        <p:spPr>
          <a:xfrm>
            <a:off x="4546600" y="2417961"/>
            <a:ext cx="1371600"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E9A23B"/>
                </a:solidFill>
                <a:latin typeface="IBM Plex Sans" pitchFamily="34" charset="0"/>
                <a:ea typeface="IBM Plex Sans" pitchFamily="34" charset="-122"/>
                <a:cs typeface="IBM Plex Sans" pitchFamily="34" charset="-120"/>
              </a:rPr>
              <a:t>3 Options</a:t>
            </a:r>
            <a:endParaRPr lang="en-US" sz="1800" dirty="0"/>
          </a:p>
        </p:txBody>
      </p:sp>
      <p:sp>
        <p:nvSpPr>
          <p:cNvPr id="12" name="Text 10"/>
          <p:cNvSpPr/>
          <p:nvPr/>
        </p:nvSpPr>
        <p:spPr>
          <a:xfrm>
            <a:off x="4546600" y="2755702"/>
            <a:ext cx="1371600" cy="693936"/>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B8C4CE"/>
                </a:solidFill>
                <a:latin typeface="IBM Plex Sans" pitchFamily="34" charset="0"/>
                <a:ea typeface="IBM Plex Sans" pitchFamily="34" charset="-122"/>
                <a:cs typeface="IBM Plex Sans" pitchFamily="34" charset="-120"/>
              </a:rPr>
              <a:t>Verified, compliance-gated plans</a:t>
            </a:r>
            <a:endParaRPr lang="en-US" sz="1300" dirty="0"/>
          </a:p>
        </p:txBody>
      </p:sp>
      <p:sp>
        <p:nvSpPr>
          <p:cNvPr id="13" name="Shape 11"/>
          <p:cNvSpPr/>
          <p:nvPr/>
        </p:nvSpPr>
        <p:spPr>
          <a:xfrm>
            <a:off x="6146800" y="2240161"/>
            <a:ext cx="1676400" cy="1361877"/>
          </a:xfrm>
          <a:prstGeom prst="roundRect">
            <a:avLst>
              <a:gd name="adj" fmla="val 7460"/>
            </a:avLst>
          </a:prstGeom>
          <a:solidFill>
            <a:srgbClr val="183041"/>
          </a:solidFill>
          <a:ln/>
        </p:spPr>
      </p:sp>
      <p:sp>
        <p:nvSpPr>
          <p:cNvPr id="14" name="Text 12"/>
          <p:cNvSpPr/>
          <p:nvPr/>
        </p:nvSpPr>
        <p:spPr>
          <a:xfrm>
            <a:off x="6324600" y="2417961"/>
            <a:ext cx="1371600"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E9A23B"/>
                </a:solidFill>
                <a:latin typeface="IBM Plex Sans" pitchFamily="34" charset="0"/>
                <a:ea typeface="IBM Plex Sans" pitchFamily="34" charset="-122"/>
                <a:cs typeface="IBM Plex Sans" pitchFamily="34" charset="-120"/>
              </a:rPr>
              <a:t>4 Approve</a:t>
            </a:r>
            <a:endParaRPr lang="en-US" sz="1800" dirty="0"/>
          </a:p>
        </p:txBody>
      </p:sp>
      <p:sp>
        <p:nvSpPr>
          <p:cNvPr id="15" name="Text 13"/>
          <p:cNvSpPr/>
          <p:nvPr/>
        </p:nvSpPr>
        <p:spPr>
          <a:xfrm>
            <a:off x="6324600" y="2755702"/>
            <a:ext cx="1371600"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B8C4CE"/>
                </a:solidFill>
                <a:latin typeface="IBM Plex Sans" pitchFamily="34" charset="0"/>
                <a:ea typeface="IBM Plex Sans" pitchFamily="34" charset="-122"/>
                <a:cs typeface="IBM Plex Sans" pitchFamily="34" charset="-120"/>
              </a:rPr>
              <a:t>Four-eyes, per role</a:t>
            </a:r>
            <a:endParaRPr lang="en-US" sz="1300" dirty="0"/>
          </a:p>
        </p:txBody>
      </p:sp>
      <p:sp>
        <p:nvSpPr>
          <p:cNvPr id="16" name="Shape 14"/>
          <p:cNvSpPr/>
          <p:nvPr/>
        </p:nvSpPr>
        <p:spPr>
          <a:xfrm>
            <a:off x="7924800" y="2240161"/>
            <a:ext cx="1676400" cy="1361877"/>
          </a:xfrm>
          <a:prstGeom prst="roundRect">
            <a:avLst>
              <a:gd name="adj" fmla="val 7460"/>
            </a:avLst>
          </a:prstGeom>
          <a:solidFill>
            <a:srgbClr val="183041"/>
          </a:solidFill>
          <a:ln/>
        </p:spPr>
      </p:sp>
      <p:sp>
        <p:nvSpPr>
          <p:cNvPr id="17" name="Text 15"/>
          <p:cNvSpPr/>
          <p:nvPr/>
        </p:nvSpPr>
        <p:spPr>
          <a:xfrm>
            <a:off x="8102600" y="2417961"/>
            <a:ext cx="1371600"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E9A23B"/>
                </a:solidFill>
                <a:latin typeface="IBM Plex Sans" pitchFamily="34" charset="0"/>
                <a:ea typeface="IBM Plex Sans" pitchFamily="34" charset="-122"/>
                <a:cs typeface="IBM Plex Sans" pitchFamily="34" charset="-120"/>
              </a:rPr>
              <a:t>5 Act</a:t>
            </a:r>
            <a:endParaRPr lang="en-US" sz="1800" dirty="0"/>
          </a:p>
        </p:txBody>
      </p:sp>
      <p:sp>
        <p:nvSpPr>
          <p:cNvPr id="18" name="Text 16"/>
          <p:cNvSpPr/>
          <p:nvPr/>
        </p:nvSpPr>
        <p:spPr>
          <a:xfrm>
            <a:off x="8102600" y="2755702"/>
            <a:ext cx="1371600"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B8C4CE"/>
                </a:solidFill>
                <a:latin typeface="IBM Plex Sans" pitchFamily="34" charset="0"/>
                <a:ea typeface="IBM Plex Sans" pitchFamily="34" charset="-122"/>
                <a:cs typeface="IBM Plex Sans" pitchFamily="34" charset="-120"/>
              </a:rPr>
              <a:t>Drafts to suppliers, ERP</a:t>
            </a:r>
            <a:endParaRPr lang="en-US" sz="1300" dirty="0"/>
          </a:p>
        </p:txBody>
      </p:sp>
      <p:sp>
        <p:nvSpPr>
          <p:cNvPr id="19" name="Shape 17"/>
          <p:cNvSpPr/>
          <p:nvPr/>
        </p:nvSpPr>
        <p:spPr>
          <a:xfrm>
            <a:off x="9702800" y="2240161"/>
            <a:ext cx="1676400" cy="1361877"/>
          </a:xfrm>
          <a:prstGeom prst="roundRect">
            <a:avLst>
              <a:gd name="adj" fmla="val 7460"/>
            </a:avLst>
          </a:prstGeom>
          <a:solidFill>
            <a:srgbClr val="183041"/>
          </a:solidFill>
          <a:ln/>
        </p:spPr>
      </p:sp>
      <p:sp>
        <p:nvSpPr>
          <p:cNvPr id="20" name="Text 18"/>
          <p:cNvSpPr/>
          <p:nvPr/>
        </p:nvSpPr>
        <p:spPr>
          <a:xfrm>
            <a:off x="9880600" y="2417961"/>
            <a:ext cx="1371600"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E9A23B"/>
                </a:solidFill>
                <a:latin typeface="IBM Plex Sans" pitchFamily="34" charset="0"/>
                <a:ea typeface="IBM Plex Sans" pitchFamily="34" charset="-122"/>
                <a:cs typeface="IBM Plex Sans" pitchFamily="34" charset="-120"/>
              </a:rPr>
              <a:t>6 Learn</a:t>
            </a:r>
            <a:endParaRPr lang="en-US" sz="1800" dirty="0"/>
          </a:p>
        </p:txBody>
      </p:sp>
      <p:sp>
        <p:nvSpPr>
          <p:cNvPr id="21" name="Text 19"/>
          <p:cNvSpPr/>
          <p:nvPr/>
        </p:nvSpPr>
        <p:spPr>
          <a:xfrm>
            <a:off x="9880600" y="2755702"/>
            <a:ext cx="1371600"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B8C4CE"/>
                </a:solidFill>
                <a:latin typeface="IBM Plex Sans" pitchFamily="34" charset="0"/>
                <a:ea typeface="IBM Plex Sans" pitchFamily="34" charset="-122"/>
                <a:cs typeface="IBM Plex Sans" pitchFamily="34" charset="-120"/>
              </a:rPr>
              <a:t>Confirmations become facts</a:t>
            </a:r>
            <a:endParaRPr lang="en-US" sz="1300" dirty="0"/>
          </a:p>
        </p:txBody>
      </p:sp>
      <p:sp>
        <p:nvSpPr>
          <p:cNvPr id="22" name="Text 20"/>
          <p:cNvSpPr/>
          <p:nvPr/>
        </p:nvSpPr>
        <p:spPr>
          <a:xfrm>
            <a:off x="812800" y="3957638"/>
            <a:ext cx="10883392"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B8C4CE"/>
                </a:solidFill>
                <a:latin typeface="IBM Plex Sans" pitchFamily="34" charset="0"/>
                <a:ea typeface="IBM Plex Sans" pitchFamily="34" charset="-122"/>
                <a:cs typeface="IBM Plex Sans" pitchFamily="34" charset="-120"/>
              </a:rPr>
              <a:t>A supplier’s answer re-enters as new data. A decline triggers an automatic re-plan.</a:t>
            </a:r>
            <a:endParaRPr lang="en-US" sz="1600" dirty="0"/>
          </a:p>
        </p:txBody>
      </p:sp>
      <p:sp>
        <p:nvSpPr>
          <p:cNvPr id="23" name="Text 21"/>
          <p:cNvSpPr/>
          <p:nvPr/>
        </p:nvSpPr>
        <p:spPr>
          <a:xfrm>
            <a:off x="812800" y="6238280"/>
            <a:ext cx="252019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A0AD"/>
                </a:solidFill>
                <a:latin typeface="IBM Plex Sans" pitchFamily="34" charset="0"/>
                <a:ea typeface="IBM Plex Sans" pitchFamily="34" charset="-122"/>
                <a:cs typeface="IBM Plex Sans" pitchFamily="34" charset="-120"/>
              </a:rPr>
              <a:t>Source: repository README · 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3EFE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9A5B08"/>
                </a:solidFill>
                <a:latin typeface="IBM Plex Sans" pitchFamily="34" charset="0"/>
                <a:ea typeface="IBM Plex Sans" pitchFamily="34" charset="-122"/>
                <a:cs typeface="IBM Plex Sans" pitchFamily="34" charset="-120"/>
              </a:rPr>
              <a:t>ARCHITECTURE</a:t>
            </a:r>
            <a:endParaRPr lang="en-US" sz="1200" dirty="0"/>
          </a:p>
        </p:txBody>
      </p:sp>
      <p:sp>
        <p:nvSpPr>
          <p:cNvPr id="3" name="Text 1"/>
          <p:cNvSpPr/>
          <p:nvPr>
            <p:ph type="title"/>
          </p:nvPr>
        </p:nvSpPr>
        <p:spPr>
          <a:xfrm>
            <a:off x="812800" y="12293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2B"/>
                </a:solidFill>
                <a:latin typeface="Space Grotesk" pitchFamily="34" charset="0"/>
                <a:ea typeface="Space Grotesk" pitchFamily="34" charset="-122"/>
                <a:cs typeface="Space Grotesk" pitchFamily="34" charset="-120"/>
              </a:rPr>
              <a:t>Five layers, data flowing down</a:t>
            </a:r>
            <a:endParaRPr lang="en-US" sz="3200" dirty="0"/>
          </a:p>
        </p:txBody>
      </p:sp>
      <p:sp>
        <p:nvSpPr>
          <p:cNvPr id="4" name="Shape 2"/>
          <p:cNvSpPr/>
          <p:nvPr/>
        </p:nvSpPr>
        <p:spPr>
          <a:xfrm>
            <a:off x="815975" y="1882676"/>
            <a:ext cx="10560050" cy="527050"/>
          </a:xfrm>
          <a:prstGeom prst="roundRect">
            <a:avLst>
              <a:gd name="adj" fmla="val 13855"/>
            </a:avLst>
          </a:prstGeom>
          <a:solidFill>
            <a:srgbClr val="FFFDF8"/>
          </a:solidFill>
          <a:ln w="6350">
            <a:solidFill>
              <a:srgbClr val="D9D3C4"/>
            </a:solidFill>
            <a:prstDash val="solid"/>
          </a:ln>
        </p:spPr>
      </p:sp>
      <p:sp>
        <p:nvSpPr>
          <p:cNvPr id="5" name="Text 3"/>
          <p:cNvSpPr/>
          <p:nvPr/>
        </p:nvSpPr>
        <p:spPr>
          <a:xfrm>
            <a:off x="1022350" y="2012851"/>
            <a:ext cx="196215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4212B"/>
                </a:solidFill>
                <a:latin typeface="IBM Plex Sans" pitchFamily="34" charset="0"/>
                <a:ea typeface="IBM Plex Sans" pitchFamily="34" charset="-122"/>
                <a:cs typeface="IBM Plex Sans" pitchFamily="34" charset="-120"/>
              </a:rPr>
              <a:t>ingest/</a:t>
            </a:r>
            <a:endParaRPr lang="en-US" sz="1500" dirty="0"/>
          </a:p>
        </p:txBody>
      </p:sp>
      <p:sp>
        <p:nvSpPr>
          <p:cNvPr id="6" name="Text 4"/>
          <p:cNvSpPr/>
          <p:nvPr/>
        </p:nvSpPr>
        <p:spPr>
          <a:xfrm>
            <a:off x="3079750" y="2021780"/>
            <a:ext cx="8332597"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6525C"/>
                </a:solidFill>
                <a:latin typeface="IBM Plex Sans" pitchFamily="34" charset="0"/>
                <a:ea typeface="IBM Plex Sans" pitchFamily="34" charset="-122"/>
                <a:cs typeface="IBM Plex Sans" pitchFamily="34" charset="-120"/>
              </a:rPr>
              <a:t>CSV, JSON, events, notices. Validation. Claude may only propose.</a:t>
            </a:r>
            <a:endParaRPr lang="en-US" sz="1400" dirty="0"/>
          </a:p>
        </p:txBody>
      </p:sp>
      <p:sp>
        <p:nvSpPr>
          <p:cNvPr id="7" name="Shape 5"/>
          <p:cNvSpPr/>
          <p:nvPr/>
        </p:nvSpPr>
        <p:spPr>
          <a:xfrm>
            <a:off x="815975" y="2492276"/>
            <a:ext cx="10560050" cy="527050"/>
          </a:xfrm>
          <a:prstGeom prst="roundRect">
            <a:avLst>
              <a:gd name="adj" fmla="val 13855"/>
            </a:avLst>
          </a:prstGeom>
          <a:solidFill>
            <a:srgbClr val="FFFDF8"/>
          </a:solidFill>
          <a:ln w="6350">
            <a:solidFill>
              <a:srgbClr val="D9D3C4"/>
            </a:solidFill>
            <a:prstDash val="solid"/>
          </a:ln>
        </p:spPr>
      </p:sp>
      <p:sp>
        <p:nvSpPr>
          <p:cNvPr id="8" name="Text 6"/>
          <p:cNvSpPr/>
          <p:nvPr/>
        </p:nvSpPr>
        <p:spPr>
          <a:xfrm>
            <a:off x="1022350" y="2622451"/>
            <a:ext cx="196215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4212B"/>
                </a:solidFill>
                <a:latin typeface="IBM Plex Sans" pitchFamily="34" charset="0"/>
                <a:ea typeface="IBM Plex Sans" pitchFamily="34" charset="-122"/>
                <a:cs typeface="IBM Plex Sans" pitchFamily="34" charset="-120"/>
              </a:rPr>
              <a:t>events + store/</a:t>
            </a:r>
            <a:endParaRPr lang="en-US" sz="1500" dirty="0"/>
          </a:p>
        </p:txBody>
      </p:sp>
      <p:sp>
        <p:nvSpPr>
          <p:cNvPr id="9" name="Text 7"/>
          <p:cNvSpPr/>
          <p:nvPr/>
        </p:nvSpPr>
        <p:spPr>
          <a:xfrm>
            <a:off x="3079750" y="2631380"/>
            <a:ext cx="8332597"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6525C"/>
                </a:solidFill>
                <a:latin typeface="IBM Plex Sans" pitchFamily="34" charset="0"/>
                <a:ea typeface="IBM Plex Sans" pitchFamily="34" charset="-122"/>
                <a:cs typeface="IBM Plex Sans" pitchFamily="34" charset="-120"/>
              </a:rPr>
              <a:t>Provenance-aware snapshots. Hash-chained audit log.</a:t>
            </a:r>
            <a:endParaRPr lang="en-US" sz="1400" dirty="0"/>
          </a:p>
        </p:txBody>
      </p:sp>
      <p:sp>
        <p:nvSpPr>
          <p:cNvPr id="10" name="Shape 8"/>
          <p:cNvSpPr/>
          <p:nvPr/>
        </p:nvSpPr>
        <p:spPr>
          <a:xfrm>
            <a:off x="815975" y="3101876"/>
            <a:ext cx="10560050" cy="527050"/>
          </a:xfrm>
          <a:prstGeom prst="roundRect">
            <a:avLst>
              <a:gd name="adj" fmla="val 13855"/>
            </a:avLst>
          </a:prstGeom>
          <a:solidFill>
            <a:srgbClr val="FFFDF8"/>
          </a:solidFill>
          <a:ln w="6350">
            <a:solidFill>
              <a:srgbClr val="D9D3C4"/>
            </a:solidFill>
            <a:prstDash val="solid"/>
          </a:ln>
        </p:spPr>
      </p:sp>
      <p:sp>
        <p:nvSpPr>
          <p:cNvPr id="11" name="Text 9"/>
          <p:cNvSpPr/>
          <p:nvPr/>
        </p:nvSpPr>
        <p:spPr>
          <a:xfrm>
            <a:off x="1022350" y="3232051"/>
            <a:ext cx="196215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4212B"/>
                </a:solidFill>
                <a:latin typeface="IBM Plex Sans" pitchFamily="34" charset="0"/>
                <a:ea typeface="IBM Plex Sans" pitchFamily="34" charset="-122"/>
                <a:cs typeface="IBM Plex Sans" pitchFamily="34" charset="-120"/>
              </a:rPr>
              <a:t>engine/</a:t>
            </a:r>
            <a:endParaRPr lang="en-US" sz="1500" dirty="0"/>
          </a:p>
        </p:txBody>
      </p:sp>
      <p:sp>
        <p:nvSpPr>
          <p:cNvPr id="12" name="Text 10"/>
          <p:cNvSpPr/>
          <p:nvPr/>
        </p:nvSpPr>
        <p:spPr>
          <a:xfrm>
            <a:off x="3079750" y="3240980"/>
            <a:ext cx="8332597"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6525C"/>
                </a:solidFill>
                <a:latin typeface="IBM Plex Sans" pitchFamily="34" charset="0"/>
                <a:ea typeface="IBM Plex Sans" pitchFamily="34" charset="-122"/>
                <a:cs typeface="IBM Plex Sans" pitchFamily="34" charset="-120"/>
              </a:rPr>
              <a:t>Scenarios, compliance gate, CP-SAT optimiser, independent verifier.</a:t>
            </a:r>
            <a:endParaRPr lang="en-US" sz="1400" dirty="0"/>
          </a:p>
        </p:txBody>
      </p:sp>
      <p:sp>
        <p:nvSpPr>
          <p:cNvPr id="13" name="Shape 11"/>
          <p:cNvSpPr/>
          <p:nvPr/>
        </p:nvSpPr>
        <p:spPr>
          <a:xfrm>
            <a:off x="815975" y="3711476"/>
            <a:ext cx="10560050" cy="527050"/>
          </a:xfrm>
          <a:prstGeom prst="roundRect">
            <a:avLst>
              <a:gd name="adj" fmla="val 13855"/>
            </a:avLst>
          </a:prstGeom>
          <a:solidFill>
            <a:srgbClr val="FFFDF8"/>
          </a:solidFill>
          <a:ln w="6350">
            <a:solidFill>
              <a:srgbClr val="D9D3C4"/>
            </a:solidFill>
            <a:prstDash val="solid"/>
          </a:ln>
        </p:spPr>
      </p:sp>
      <p:sp>
        <p:nvSpPr>
          <p:cNvPr id="14" name="Text 12"/>
          <p:cNvSpPr/>
          <p:nvPr/>
        </p:nvSpPr>
        <p:spPr>
          <a:xfrm>
            <a:off x="1022350" y="3841651"/>
            <a:ext cx="196215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14212B"/>
                </a:solidFill>
                <a:latin typeface="IBM Plex Sans" pitchFamily="34" charset="0"/>
                <a:ea typeface="IBM Plex Sans" pitchFamily="34" charset="-122"/>
                <a:cs typeface="IBM Plex Sans" pitchFamily="34" charset="-120"/>
              </a:rPr>
              <a:t>services/</a:t>
            </a:r>
            <a:endParaRPr lang="en-US" sz="1500" dirty="0"/>
          </a:p>
        </p:txBody>
      </p:sp>
      <p:sp>
        <p:nvSpPr>
          <p:cNvPr id="15" name="Text 13"/>
          <p:cNvSpPr/>
          <p:nvPr/>
        </p:nvSpPr>
        <p:spPr>
          <a:xfrm>
            <a:off x="3079750" y="3850580"/>
            <a:ext cx="8332597"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6525C"/>
                </a:solidFill>
                <a:latin typeface="IBM Plex Sans" pitchFamily="34" charset="0"/>
                <a:ea typeface="IBM Plex Sans" pitchFamily="34" charset="-122"/>
                <a:cs typeface="IBM Plex Sans" pitchFamily="34" charset="-120"/>
              </a:rPr>
              <a:t>Incident state machine, approvals, idempotent actions, outcomes.</a:t>
            </a:r>
            <a:endParaRPr lang="en-US" sz="1400" dirty="0"/>
          </a:p>
        </p:txBody>
      </p:sp>
      <p:sp>
        <p:nvSpPr>
          <p:cNvPr id="16" name="Shape 14"/>
          <p:cNvSpPr/>
          <p:nvPr/>
        </p:nvSpPr>
        <p:spPr>
          <a:xfrm>
            <a:off x="812800" y="4317901"/>
            <a:ext cx="10566400" cy="520700"/>
          </a:xfrm>
          <a:prstGeom prst="roundRect">
            <a:avLst>
              <a:gd name="adj" fmla="val 14634"/>
            </a:avLst>
          </a:prstGeom>
          <a:solidFill>
            <a:srgbClr val="14212B"/>
          </a:solidFill>
          <a:ln/>
        </p:spPr>
      </p:sp>
      <p:sp>
        <p:nvSpPr>
          <p:cNvPr id="17" name="Text 15"/>
          <p:cNvSpPr/>
          <p:nvPr/>
        </p:nvSpPr>
        <p:spPr>
          <a:xfrm>
            <a:off x="1016000" y="4444901"/>
            <a:ext cx="196215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F3EFE6"/>
                </a:solidFill>
                <a:latin typeface="IBM Plex Sans" pitchFamily="34" charset="0"/>
                <a:ea typeface="IBM Plex Sans" pitchFamily="34" charset="-122"/>
                <a:cs typeface="IBM Plex Sans" pitchFamily="34" charset="-120"/>
              </a:rPr>
              <a:t>api/ + ui/</a:t>
            </a:r>
            <a:endParaRPr lang="en-US" sz="1500" dirty="0"/>
          </a:p>
        </p:txBody>
      </p:sp>
      <p:sp>
        <p:nvSpPr>
          <p:cNvPr id="18" name="Text 16"/>
          <p:cNvSpPr/>
          <p:nvPr/>
        </p:nvSpPr>
        <p:spPr>
          <a:xfrm>
            <a:off x="3073400" y="4453830"/>
            <a:ext cx="8345678"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8C4CE"/>
                </a:solidFill>
                <a:latin typeface="IBM Plex Sans" pitchFamily="34" charset="0"/>
                <a:ea typeface="IBM Plex Sans" pitchFamily="34" charset="-122"/>
                <a:cs typeface="IBM Plex Sans" pitchFamily="34" charset="-120"/>
              </a:rPr>
              <a:t>FastAPI with roles. Landing page and operations console.</a:t>
            </a:r>
            <a:endParaRPr lang="en-US" sz="1400" dirty="0"/>
          </a:p>
        </p:txBody>
      </p:sp>
      <p:sp>
        <p:nvSpPr>
          <p:cNvPr id="19" name="Text 17"/>
          <p:cNvSpPr/>
          <p:nvPr/>
        </p:nvSpPr>
        <p:spPr>
          <a:xfrm>
            <a:off x="812800" y="6238280"/>
            <a:ext cx="301335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79"/>
                </a:solidFill>
                <a:latin typeface="IBM Plex Sans" pitchFamily="34" charset="0"/>
                <a:ea typeface="IBM Plex Sans" pitchFamily="34" charset="-122"/>
                <a:cs typeface="IBM Plex Sans" pitchFamily="34" charset="-120"/>
              </a:rPr>
              <a:t>Source: docs/ARCHITECTURE.md · 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9A23B"/>
        </a:solidFill>
      </p:bgPr>
    </p:bg>
    <p:spTree>
      <p:nvGrpSpPr>
        <p:cNvPr id="1" name=""/>
        <p:cNvGrpSpPr/>
        <p:nvPr/>
      </p:nvGrpSpPr>
      <p:grpSpPr>
        <a:xfrm>
          <a:off x="0" y="0"/>
          <a:ext cx="0" cy="0"/>
          <a:chOff x="0" y="0"/>
          <a:chExt cx="0" cy="0"/>
        </a:xfrm>
      </p:grpSpPr>
      <p:sp>
        <p:nvSpPr>
          <p:cNvPr id="2" name="Text 0"/>
          <p:cNvSpPr/>
          <p:nvPr/>
        </p:nvSpPr>
        <p:spPr>
          <a:xfrm>
            <a:off x="812800" y="1795859"/>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14212B"/>
                </a:solidFill>
                <a:latin typeface="IBM Plex Sans" pitchFamily="34" charset="0"/>
                <a:ea typeface="IBM Plex Sans" pitchFamily="34" charset="-122"/>
                <a:cs typeface="IBM Plex Sans" pitchFamily="34" charset="-120"/>
              </a:rPr>
              <a:t>THE RULE THAT SHAPES EVERYTHING</a:t>
            </a:r>
            <a:endParaRPr lang="en-US" sz="1200" dirty="0"/>
          </a:p>
        </p:txBody>
      </p:sp>
      <p:sp>
        <p:nvSpPr>
          <p:cNvPr id="3" name="Text 1"/>
          <p:cNvSpPr/>
          <p:nvPr>
            <p:ph type="title"/>
          </p:nvPr>
        </p:nvSpPr>
        <p:spPr>
          <a:xfrm>
            <a:off x="812800" y="2313980"/>
            <a:ext cx="10883392" cy="1305520"/>
          </a:xfrm>
          <a:prstGeom prst="rect">
            <a:avLst/>
          </a:prstGeom>
          <a:noFill/>
          <a:ln/>
        </p:spPr>
        <p:txBody>
          <a:bodyPr wrap="square" lIns="0" tIns="0" rIns="0" bIns="0" rtlCol="0" anchor="t">
            <a:normAutofit/>
          </a:bodyPr>
          <a:lstStyle/>
          <a:p>
            <a:pPr algn="l" indent="0" marL="0">
              <a:lnSpc>
                <a:spcPts val="5040"/>
              </a:lnSpc>
              <a:buNone/>
            </a:pPr>
            <a:r>
              <a:rPr lang="en-US" sz="4800" b="1" i="0" dirty="0">
                <a:solidFill>
                  <a:srgbClr val="14212B"/>
                </a:solidFill>
                <a:latin typeface="Space Grotesk" pitchFamily="34" charset="0"/>
                <a:ea typeface="Space Grotesk" pitchFamily="34" charset="-122"/>
                <a:cs typeface="Space Grotesk" pitchFamily="34" charset="-120"/>
              </a:rPr>
              <a:t>Code decides. A model may only propose.</a:t>
            </a:r>
            <a:endParaRPr lang="en-US" sz="4800" dirty="0"/>
          </a:p>
        </p:txBody>
      </p:sp>
      <p:sp>
        <p:nvSpPr>
          <p:cNvPr id="4" name="Text 2"/>
          <p:cNvSpPr/>
          <p:nvPr/>
        </p:nvSpPr>
        <p:spPr>
          <a:xfrm>
            <a:off x="812800" y="3898900"/>
            <a:ext cx="10883392" cy="985341"/>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14212B"/>
                </a:solidFill>
                <a:latin typeface="IBM Plex Sans" pitchFamily="34" charset="0"/>
                <a:ea typeface="IBM Plex Sans" pitchFamily="34" charset="-122"/>
                <a:cs typeface="IBM Plex Sans" pitchFamily="34" charset="-120"/>
              </a:rPr>
              <a:t>Quantities, capacity and compliance come from a constraint solver and an independent verifier. A language model can draft an event from a notice, but nothing reaches the solver without verbatim evidence, validation, a dry run and human confirmation.</a:t>
            </a:r>
            <a:endParaRPr lang="en-US" sz="1800" dirty="0"/>
          </a:p>
        </p:txBody>
      </p:sp>
      <p:sp>
        <p:nvSpPr>
          <p:cNvPr id="5" name="Text 3"/>
          <p:cNvSpPr/>
          <p:nvPr/>
        </p:nvSpPr>
        <p:spPr>
          <a:xfrm>
            <a:off x="812800" y="6238280"/>
            <a:ext cx="312312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12B"/>
                </a:solidFill>
                <a:latin typeface="IBM Plex Sans" pitchFamily="34" charset="0"/>
                <a:ea typeface="IBM Plex Sans" pitchFamily="34" charset="-122"/>
                <a:cs typeface="IBM Plex Sans" pitchFamily="34" charset="-120"/>
              </a:rPr>
              <a:t>Source: docs/ARCHITECTURE.md · 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F1B2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E9A23B"/>
                </a:solidFill>
                <a:latin typeface="IBM Plex Sans" pitchFamily="34" charset="0"/>
                <a:ea typeface="IBM Plex Sans" pitchFamily="34" charset="-122"/>
                <a:cs typeface="IBM Plex Sans" pitchFamily="34" charset="-120"/>
              </a:rPr>
              <a:t>DEMO INCIDENT · ILLUSTRATIVE DATA</a:t>
            </a:r>
            <a:endParaRPr lang="en-US" sz="1200" dirty="0"/>
          </a:p>
        </p:txBody>
      </p:sp>
      <p:sp>
        <p:nvSpPr>
          <p:cNvPr id="3" name="Text 1"/>
          <p:cNvSpPr/>
          <p:nvPr>
            <p:ph type="title"/>
          </p:nvPr>
        </p:nvSpPr>
        <p:spPr>
          <a:xfrm>
            <a:off x="812800" y="13309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3EFE6"/>
                </a:solidFill>
                <a:latin typeface="Space Grotesk" pitchFamily="34" charset="0"/>
                <a:ea typeface="Space Grotesk" pitchFamily="34" charset="-122"/>
                <a:cs typeface="Space Grotesk" pitchFamily="34" charset="-120"/>
              </a:rPr>
              <a:t>A 25% packaging cut, answered in 15 seconds</a:t>
            </a:r>
            <a:endParaRPr lang="en-US" sz="3600" dirty="0"/>
          </a:p>
        </p:txBody>
      </p:sp>
      <p:sp>
        <p:nvSpPr>
          <p:cNvPr id="4" name="Shape 2"/>
          <p:cNvSpPr/>
          <p:nvPr/>
        </p:nvSpPr>
        <p:spPr>
          <a:xfrm>
            <a:off x="812800" y="2138561"/>
            <a:ext cx="5181600" cy="1676400"/>
          </a:xfrm>
          <a:prstGeom prst="roundRect">
            <a:avLst>
              <a:gd name="adj" fmla="val 6061"/>
            </a:avLst>
          </a:prstGeom>
          <a:solidFill>
            <a:srgbClr val="183041"/>
          </a:solidFill>
          <a:ln/>
        </p:spPr>
      </p:sp>
      <p:sp>
        <p:nvSpPr>
          <p:cNvPr id="5" name="Text 3"/>
          <p:cNvSpPr/>
          <p:nvPr/>
        </p:nvSpPr>
        <p:spPr>
          <a:xfrm>
            <a:off x="1066800" y="2392561"/>
            <a:ext cx="4813808" cy="584200"/>
          </a:xfrm>
          <a:prstGeom prst="rect">
            <a:avLst/>
          </a:prstGeom>
          <a:noFill/>
          <a:ln/>
        </p:spPr>
        <p:txBody>
          <a:bodyPr wrap="square" lIns="0" tIns="0" rIns="0" bIns="0" rtlCol="0" anchor="t">
            <a:normAutofit/>
          </a:bodyPr>
          <a:lstStyle/>
          <a:p>
            <a:pPr algn="l" indent="0" marL="0">
              <a:lnSpc>
                <a:spcPts val="4400"/>
              </a:lnSpc>
              <a:buNone/>
            </a:pPr>
            <a:r>
              <a:rPr lang="en-US" sz="4400" b="1" dirty="0">
                <a:solidFill>
                  <a:srgbClr val="E9A23B"/>
                </a:solidFill>
                <a:latin typeface="Space Grotesk" pitchFamily="34" charset="0"/>
                <a:ea typeface="Space Grotesk" pitchFamily="34" charset="-122"/>
                <a:cs typeface="Space Grotesk" pitchFamily="34" charset="-120"/>
              </a:rPr>
              <a:t>$38.8M</a:t>
            </a:r>
            <a:endParaRPr lang="en-US" sz="4400" dirty="0"/>
          </a:p>
        </p:txBody>
      </p:sp>
      <p:sp>
        <p:nvSpPr>
          <p:cNvPr id="6" name="Text 4"/>
          <p:cNvSpPr/>
          <p:nvPr/>
        </p:nvSpPr>
        <p:spPr>
          <a:xfrm>
            <a:off x="1066800" y="3027561"/>
            <a:ext cx="4813808"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B8C4CE"/>
                </a:solidFill>
                <a:latin typeface="IBM Plex Sans" pitchFamily="34" charset="0"/>
                <a:ea typeface="IBM Plex Sans" pitchFamily="34" charset="-122"/>
                <a:cs typeface="IBM Plex Sans" pitchFamily="34" charset="-120"/>
              </a:rPr>
              <a:t>exposure if nobody acts: 1,278 on-time units lost across 4 orders</a:t>
            </a:r>
            <a:endParaRPr lang="en-US" sz="1500" dirty="0"/>
          </a:p>
        </p:txBody>
      </p:sp>
      <p:sp>
        <p:nvSpPr>
          <p:cNvPr id="7" name="Shape 5"/>
          <p:cNvSpPr/>
          <p:nvPr/>
        </p:nvSpPr>
        <p:spPr>
          <a:xfrm>
            <a:off x="6197600" y="2138561"/>
            <a:ext cx="5181600" cy="1676400"/>
          </a:xfrm>
          <a:prstGeom prst="roundRect">
            <a:avLst>
              <a:gd name="adj" fmla="val 6061"/>
            </a:avLst>
          </a:prstGeom>
          <a:solidFill>
            <a:srgbClr val="183041"/>
          </a:solidFill>
          <a:ln/>
        </p:spPr>
      </p:sp>
      <p:sp>
        <p:nvSpPr>
          <p:cNvPr id="8" name="Text 6"/>
          <p:cNvSpPr/>
          <p:nvPr/>
        </p:nvSpPr>
        <p:spPr>
          <a:xfrm>
            <a:off x="6451600" y="2392561"/>
            <a:ext cx="4813808" cy="584200"/>
          </a:xfrm>
          <a:prstGeom prst="rect">
            <a:avLst/>
          </a:prstGeom>
          <a:noFill/>
          <a:ln/>
        </p:spPr>
        <p:txBody>
          <a:bodyPr wrap="square" lIns="0" tIns="0" rIns="0" bIns="0" rtlCol="0" anchor="t">
            <a:normAutofit/>
          </a:bodyPr>
          <a:lstStyle/>
          <a:p>
            <a:pPr algn="l" indent="0" marL="0">
              <a:lnSpc>
                <a:spcPts val="4400"/>
              </a:lnSpc>
              <a:buNone/>
            </a:pPr>
            <a:r>
              <a:rPr lang="en-US" sz="4400" b="1" dirty="0">
                <a:solidFill>
                  <a:srgbClr val="4CC3B0"/>
                </a:solidFill>
                <a:latin typeface="Space Grotesk" pitchFamily="34" charset="0"/>
                <a:ea typeface="Space Grotesk" pitchFamily="34" charset="-122"/>
                <a:cs typeface="Space Grotesk" pitchFamily="34" charset="-120"/>
              </a:rPr>
              <a:t>9,410</a:t>
            </a:r>
            <a:endParaRPr lang="en-US" sz="4400" dirty="0"/>
          </a:p>
        </p:txBody>
      </p:sp>
      <p:sp>
        <p:nvSpPr>
          <p:cNvPr id="9" name="Text 7"/>
          <p:cNvSpPr/>
          <p:nvPr/>
        </p:nvSpPr>
        <p:spPr>
          <a:xfrm>
            <a:off x="6451600" y="3027561"/>
            <a:ext cx="4813808"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B8C4CE"/>
                </a:solidFill>
                <a:latin typeface="IBM Plex Sans" pitchFamily="34" charset="0"/>
                <a:ea typeface="IBM Plex Sans" pitchFamily="34" charset="-122"/>
                <a:cs typeface="IBM Plex Sans" pitchFamily="34" charset="-120"/>
              </a:rPr>
              <a:t>units on time under the balanced plan, for about $0.9M of levers</a:t>
            </a:r>
            <a:endParaRPr lang="en-US" sz="1500" dirty="0"/>
          </a:p>
        </p:txBody>
      </p:sp>
      <p:sp>
        <p:nvSpPr>
          <p:cNvPr id="10" name="Text 8"/>
          <p:cNvSpPr/>
          <p:nvPr/>
        </p:nvSpPr>
        <p:spPr>
          <a:xfrm>
            <a:off x="812800" y="4119761"/>
            <a:ext cx="1137920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B8C4CE"/>
                </a:solidFill>
                <a:latin typeface="IBM Plex Sans" pitchFamily="34" charset="0"/>
                <a:ea typeface="IBM Plex Sans" pitchFamily="34" charset="-122"/>
                <a:cs typeface="IBM Plex Sans" pitchFamily="34" charset="-120"/>
              </a:rPr>
              <a:t>Binding constraint: packaging at OSAT-A and OSAT-B. Two of six orders were compliance-held and excluded from supply.</a:t>
            </a:r>
            <a:endParaRPr lang="en-US" sz="1500" dirty="0"/>
          </a:p>
        </p:txBody>
      </p:sp>
      <p:sp>
        <p:nvSpPr>
          <p:cNvPr id="11" name="Text 9"/>
          <p:cNvSpPr/>
          <p:nvPr/>
        </p:nvSpPr>
        <p:spPr>
          <a:xfrm>
            <a:off x="812800" y="6238280"/>
            <a:ext cx="360009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A0AD"/>
                </a:solidFill>
                <a:latin typeface="IBM Plex Sans" pitchFamily="34" charset="0"/>
                <a:ea typeface="IBM Plex Sans" pitchFamily="34" charset="-122"/>
                <a:cs typeface="IBM Plex Sans" pitchFamily="34" charset="-120"/>
              </a:rPr>
              <a:t>Source: repository README, demo data · 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F1B2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E9A23B"/>
                </a:solidFill>
                <a:latin typeface="IBM Plex Sans" pitchFamily="34" charset="0"/>
                <a:ea typeface="IBM Plex Sans" pitchFamily="34" charset="-122"/>
                <a:cs typeface="IBM Plex Sans" pitchFamily="34" charset="-120"/>
              </a:rPr>
              <a:t>WHO WE SELL TO · CUSTOMER SEGMENTS</a:t>
            </a:r>
            <a:endParaRPr lang="en-US" sz="1200" dirty="0"/>
          </a:p>
        </p:txBody>
      </p:sp>
      <p:sp>
        <p:nvSpPr>
          <p:cNvPr id="3" name="Text 1"/>
          <p:cNvSpPr/>
          <p:nvPr>
            <p:ph type="title"/>
          </p:nvPr>
        </p:nvSpPr>
        <p:spPr>
          <a:xfrm>
            <a:off x="812800" y="12801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3EFE6"/>
                </a:solidFill>
                <a:latin typeface="Space Grotesk" pitchFamily="34" charset="0"/>
                <a:ea typeface="Space Grotesk" pitchFamily="34" charset="-122"/>
                <a:cs typeface="Space Grotesk" pitchFamily="34" charset="-120"/>
              </a:rPr>
              <a:t>Six customer segments, one shared shortage</a:t>
            </a:r>
            <a:endParaRPr lang="en-US" sz="3600" dirty="0"/>
          </a:p>
        </p:txBody>
      </p:sp>
      <p:sp>
        <p:nvSpPr>
          <p:cNvPr id="4" name="Shape 2"/>
          <p:cNvSpPr/>
          <p:nvPr/>
        </p:nvSpPr>
        <p:spPr>
          <a:xfrm>
            <a:off x="812800" y="2036961"/>
            <a:ext cx="3420467" cy="1740892"/>
          </a:xfrm>
          <a:prstGeom prst="roundRect">
            <a:avLst>
              <a:gd name="adj" fmla="val 5836"/>
            </a:avLst>
          </a:prstGeom>
          <a:solidFill>
            <a:srgbClr val="183041"/>
          </a:solidFill>
          <a:ln/>
        </p:spPr>
      </p:sp>
      <p:sp>
        <p:nvSpPr>
          <p:cNvPr id="5" name="Text 3"/>
          <p:cNvSpPr/>
          <p:nvPr/>
        </p:nvSpPr>
        <p:spPr>
          <a:xfrm>
            <a:off x="1016000" y="2240161"/>
            <a:ext cx="3104489" cy="57388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3EFE6"/>
                </a:solidFill>
                <a:latin typeface="Space Grotesk" pitchFamily="34" charset="0"/>
                <a:ea typeface="Space Grotesk" pitchFamily="34" charset="-122"/>
                <a:cs typeface="Space Grotesk" pitchFamily="34" charset="-120"/>
              </a:rPr>
              <a:t>Fabless and AI chip companies</a:t>
            </a:r>
            <a:endParaRPr lang="en-US" sz="1800" dirty="0"/>
          </a:p>
        </p:txBody>
      </p:sp>
      <p:sp>
        <p:nvSpPr>
          <p:cNvPr id="6" name="Text 4"/>
          <p:cNvSpPr/>
          <p:nvPr/>
        </p:nvSpPr>
        <p:spPr>
          <a:xfrm>
            <a:off x="1016000" y="2852142"/>
            <a:ext cx="3104489"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E9A23B"/>
                </a:solidFill>
                <a:latin typeface="IBM Plex Sans" pitchFamily="34" charset="0"/>
                <a:ea typeface="IBM Plex Sans" pitchFamily="34" charset="-122"/>
                <a:cs typeface="IBM Plex Sans" pitchFamily="34" charset="-120"/>
              </a:rPr>
              <a:t>Buyer: VP Supply Chain</a:t>
            </a:r>
            <a:endParaRPr lang="en-US" sz="1200" dirty="0"/>
          </a:p>
        </p:txBody>
      </p:sp>
      <p:sp>
        <p:nvSpPr>
          <p:cNvPr id="7" name="Text 5"/>
          <p:cNvSpPr/>
          <p:nvPr/>
        </p:nvSpPr>
        <p:spPr>
          <a:xfrm>
            <a:off x="1016000" y="3128963"/>
            <a:ext cx="3104489"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B8C4CE"/>
                </a:solidFill>
                <a:latin typeface="IBM Plex Sans" pitchFamily="34" charset="0"/>
                <a:ea typeface="IBM Plex Sans" pitchFamily="34" charset="-122"/>
                <a:cs typeface="IBM Plex Sans" pitchFamily="34" charset="-120"/>
              </a:rPr>
              <a:t>Compete for packaging slots and HBM commitments.</a:t>
            </a:r>
            <a:endParaRPr lang="en-US" sz="1300" dirty="0"/>
          </a:p>
        </p:txBody>
      </p:sp>
      <p:sp>
        <p:nvSpPr>
          <p:cNvPr id="8" name="Shape 6"/>
          <p:cNvSpPr/>
          <p:nvPr/>
        </p:nvSpPr>
        <p:spPr>
          <a:xfrm>
            <a:off x="4385667" y="2036961"/>
            <a:ext cx="3420566" cy="1740892"/>
          </a:xfrm>
          <a:prstGeom prst="roundRect">
            <a:avLst>
              <a:gd name="adj" fmla="val 5836"/>
            </a:avLst>
          </a:prstGeom>
          <a:solidFill>
            <a:srgbClr val="183041"/>
          </a:solidFill>
          <a:ln/>
        </p:spPr>
      </p:sp>
      <p:sp>
        <p:nvSpPr>
          <p:cNvPr id="9" name="Text 7"/>
          <p:cNvSpPr/>
          <p:nvPr/>
        </p:nvSpPr>
        <p:spPr>
          <a:xfrm>
            <a:off x="4588867" y="2240161"/>
            <a:ext cx="3104591" cy="57388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3EFE6"/>
                </a:solidFill>
                <a:latin typeface="Space Grotesk" pitchFamily="34" charset="0"/>
                <a:ea typeface="Space Grotesk" pitchFamily="34" charset="-122"/>
                <a:cs typeface="Space Grotesk" pitchFamily="34" charset="-120"/>
              </a:rPr>
              <a:t>Hyperscalers and AI infrastructure</a:t>
            </a:r>
            <a:endParaRPr lang="en-US" sz="1800" dirty="0"/>
          </a:p>
        </p:txBody>
      </p:sp>
      <p:sp>
        <p:nvSpPr>
          <p:cNvPr id="10" name="Text 8"/>
          <p:cNvSpPr/>
          <p:nvPr/>
        </p:nvSpPr>
        <p:spPr>
          <a:xfrm>
            <a:off x="4588867" y="2852142"/>
            <a:ext cx="3104591"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E9A23B"/>
                </a:solidFill>
                <a:latin typeface="IBM Plex Sans" pitchFamily="34" charset="0"/>
                <a:ea typeface="IBM Plex Sans" pitchFamily="34" charset="-122"/>
                <a:cs typeface="IBM Plex Sans" pitchFamily="34" charset="-120"/>
              </a:rPr>
              <a:t>Buyer: Head of Capacity Planning</a:t>
            </a:r>
            <a:endParaRPr lang="en-US" sz="1200" dirty="0"/>
          </a:p>
        </p:txBody>
      </p:sp>
      <p:sp>
        <p:nvSpPr>
          <p:cNvPr id="11" name="Text 9"/>
          <p:cNvSpPr/>
          <p:nvPr/>
        </p:nvSpPr>
        <p:spPr>
          <a:xfrm>
            <a:off x="4588867" y="3128963"/>
            <a:ext cx="3104591"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B8C4CE"/>
                </a:solidFill>
                <a:latin typeface="IBM Plex Sans" pitchFamily="34" charset="0"/>
                <a:ea typeface="IBM Plex Sans" pitchFamily="34" charset="-122"/>
                <a:cs typeface="IBM Plex Sans" pitchFamily="34" charset="-120"/>
              </a:rPr>
              <a:t>Data-centre build-outs wait on accelerator deliveries.</a:t>
            </a:r>
            <a:endParaRPr lang="en-US" sz="1300" dirty="0"/>
          </a:p>
        </p:txBody>
      </p:sp>
      <p:sp>
        <p:nvSpPr>
          <p:cNvPr id="12" name="Shape 10"/>
          <p:cNvSpPr/>
          <p:nvPr/>
        </p:nvSpPr>
        <p:spPr>
          <a:xfrm>
            <a:off x="7958634" y="2036961"/>
            <a:ext cx="3420566" cy="1740892"/>
          </a:xfrm>
          <a:prstGeom prst="roundRect">
            <a:avLst>
              <a:gd name="adj" fmla="val 5836"/>
            </a:avLst>
          </a:prstGeom>
          <a:solidFill>
            <a:srgbClr val="183041"/>
          </a:solidFill>
          <a:ln/>
        </p:spPr>
      </p:sp>
      <p:sp>
        <p:nvSpPr>
          <p:cNvPr id="13" name="Text 11"/>
          <p:cNvSpPr/>
          <p:nvPr/>
        </p:nvSpPr>
        <p:spPr>
          <a:xfrm>
            <a:off x="8161834" y="2240161"/>
            <a:ext cx="3104591" cy="57388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3EFE6"/>
                </a:solidFill>
                <a:latin typeface="Space Grotesk" pitchFamily="34" charset="0"/>
                <a:ea typeface="Space Grotesk" pitchFamily="34" charset="-122"/>
                <a:cs typeface="Space Grotesk" pitchFamily="34" charset="-120"/>
              </a:rPr>
              <a:t>Automotive and industrial OEMs</a:t>
            </a:r>
            <a:endParaRPr lang="en-US" sz="1800" dirty="0"/>
          </a:p>
        </p:txBody>
      </p:sp>
      <p:sp>
        <p:nvSpPr>
          <p:cNvPr id="14" name="Text 12"/>
          <p:cNvSpPr/>
          <p:nvPr/>
        </p:nvSpPr>
        <p:spPr>
          <a:xfrm>
            <a:off x="8161834" y="2852142"/>
            <a:ext cx="3104591"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E9A23B"/>
                </a:solidFill>
                <a:latin typeface="IBM Plex Sans" pitchFamily="34" charset="0"/>
                <a:ea typeface="IBM Plex Sans" pitchFamily="34" charset="-122"/>
                <a:cs typeface="IBM Plex Sans" pitchFamily="34" charset="-120"/>
              </a:rPr>
              <a:t>Buyer: Chief Procurement Officer</a:t>
            </a:r>
            <a:endParaRPr lang="en-US" sz="1200" dirty="0"/>
          </a:p>
        </p:txBody>
      </p:sp>
      <p:sp>
        <p:nvSpPr>
          <p:cNvPr id="15" name="Text 13"/>
          <p:cNvSpPr/>
          <p:nvPr/>
        </p:nvSpPr>
        <p:spPr>
          <a:xfrm>
            <a:off x="8161834" y="3128963"/>
            <a:ext cx="3104591"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B8C4CE"/>
                </a:solidFill>
                <a:latin typeface="IBM Plex Sans" pitchFamily="34" charset="0"/>
                <a:ea typeface="IBM Plex Sans" pitchFamily="34" charset="-122"/>
                <a:cs typeface="IBM Plex Sans" pitchFamily="34" charset="-120"/>
              </a:rPr>
              <a:t>A $300 part can stop a $50,000 product.</a:t>
            </a:r>
            <a:endParaRPr lang="en-US" sz="1300" dirty="0"/>
          </a:p>
        </p:txBody>
      </p:sp>
      <p:sp>
        <p:nvSpPr>
          <p:cNvPr id="16" name="Shape 14"/>
          <p:cNvSpPr/>
          <p:nvPr/>
        </p:nvSpPr>
        <p:spPr>
          <a:xfrm>
            <a:off x="812800" y="3930253"/>
            <a:ext cx="3420467" cy="1740892"/>
          </a:xfrm>
          <a:prstGeom prst="roundRect">
            <a:avLst>
              <a:gd name="adj" fmla="val 5836"/>
            </a:avLst>
          </a:prstGeom>
          <a:solidFill>
            <a:srgbClr val="183041"/>
          </a:solidFill>
          <a:ln/>
        </p:spPr>
      </p:sp>
      <p:sp>
        <p:nvSpPr>
          <p:cNvPr id="17" name="Text 15"/>
          <p:cNvSpPr/>
          <p:nvPr/>
        </p:nvSpPr>
        <p:spPr>
          <a:xfrm>
            <a:off x="1016000" y="4133453"/>
            <a:ext cx="3104489" cy="57388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3EFE6"/>
                </a:solidFill>
                <a:latin typeface="Space Grotesk" pitchFamily="34" charset="0"/>
                <a:ea typeface="Space Grotesk" pitchFamily="34" charset="-122"/>
                <a:cs typeface="Space Grotesk" pitchFamily="34" charset="-120"/>
              </a:rPr>
              <a:t>Foundries and new CHIPS Act fabs</a:t>
            </a:r>
            <a:endParaRPr lang="en-US" sz="1800" dirty="0"/>
          </a:p>
        </p:txBody>
      </p:sp>
      <p:sp>
        <p:nvSpPr>
          <p:cNvPr id="18" name="Text 16"/>
          <p:cNvSpPr/>
          <p:nvPr/>
        </p:nvSpPr>
        <p:spPr>
          <a:xfrm>
            <a:off x="1016000" y="4745434"/>
            <a:ext cx="3104489"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E9A23B"/>
                </a:solidFill>
                <a:latin typeface="IBM Plex Sans" pitchFamily="34" charset="0"/>
                <a:ea typeface="IBM Plex Sans" pitchFamily="34" charset="-122"/>
                <a:cs typeface="IBM Plex Sans" pitchFamily="34" charset="-120"/>
              </a:rPr>
              <a:t>Buyer: Fab Supply Chain Lead</a:t>
            </a:r>
            <a:endParaRPr lang="en-US" sz="1200" dirty="0"/>
          </a:p>
        </p:txBody>
      </p:sp>
      <p:sp>
        <p:nvSpPr>
          <p:cNvPr id="19" name="Text 17"/>
          <p:cNvSpPr/>
          <p:nvPr/>
        </p:nvSpPr>
        <p:spPr>
          <a:xfrm>
            <a:off x="1016000" y="5022255"/>
            <a:ext cx="3104489"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B8C4CE"/>
                </a:solidFill>
                <a:latin typeface="IBM Plex Sans" pitchFamily="34" charset="0"/>
                <a:ea typeface="IBM Plex Sans" pitchFamily="34" charset="-122"/>
                <a:cs typeface="IBM Plex Sans" pitchFamily="34" charset="-120"/>
              </a:rPr>
              <a:t>Greenfield sites build a supplier network from zero.</a:t>
            </a:r>
            <a:endParaRPr lang="en-US" sz="1300" dirty="0"/>
          </a:p>
        </p:txBody>
      </p:sp>
      <p:sp>
        <p:nvSpPr>
          <p:cNvPr id="20" name="Shape 18"/>
          <p:cNvSpPr/>
          <p:nvPr/>
        </p:nvSpPr>
        <p:spPr>
          <a:xfrm>
            <a:off x="4385667" y="3930253"/>
            <a:ext cx="3420566" cy="1740892"/>
          </a:xfrm>
          <a:prstGeom prst="roundRect">
            <a:avLst>
              <a:gd name="adj" fmla="val 5836"/>
            </a:avLst>
          </a:prstGeom>
          <a:solidFill>
            <a:srgbClr val="183041"/>
          </a:solidFill>
          <a:ln/>
        </p:spPr>
      </p:sp>
      <p:sp>
        <p:nvSpPr>
          <p:cNvPr id="21" name="Text 19"/>
          <p:cNvSpPr/>
          <p:nvPr/>
        </p:nvSpPr>
        <p:spPr>
          <a:xfrm>
            <a:off x="4588867" y="4133453"/>
            <a:ext cx="3104591"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3EFE6"/>
                </a:solidFill>
                <a:latin typeface="Space Grotesk" pitchFamily="34" charset="0"/>
                <a:ea typeface="Space Grotesk" pitchFamily="34" charset="-122"/>
                <a:cs typeface="Space Grotesk" pitchFamily="34" charset="-120"/>
              </a:rPr>
              <a:t>OSATs</a:t>
            </a:r>
            <a:endParaRPr lang="en-US" sz="1800" dirty="0"/>
          </a:p>
        </p:txBody>
      </p:sp>
      <p:sp>
        <p:nvSpPr>
          <p:cNvPr id="22" name="Text 20"/>
          <p:cNvSpPr/>
          <p:nvPr/>
        </p:nvSpPr>
        <p:spPr>
          <a:xfrm>
            <a:off x="4588867" y="4471194"/>
            <a:ext cx="3104591"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E9A23B"/>
                </a:solidFill>
                <a:latin typeface="IBM Plex Sans" pitchFamily="34" charset="0"/>
                <a:ea typeface="IBM Plex Sans" pitchFamily="34" charset="-122"/>
                <a:cs typeface="IBM Plex Sans" pitchFamily="34" charset="-120"/>
              </a:rPr>
              <a:t>Buyer: Capacity Planning Head</a:t>
            </a:r>
            <a:endParaRPr lang="en-US" sz="1200" dirty="0"/>
          </a:p>
        </p:txBody>
      </p:sp>
      <p:sp>
        <p:nvSpPr>
          <p:cNvPr id="23" name="Text 21"/>
          <p:cNvSpPr/>
          <p:nvPr/>
        </p:nvSpPr>
        <p:spPr>
          <a:xfrm>
            <a:off x="4588867" y="4748014"/>
            <a:ext cx="3104591"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B8C4CE"/>
                </a:solidFill>
                <a:latin typeface="IBM Plex Sans" pitchFamily="34" charset="0"/>
                <a:ea typeface="IBM Plex Sans" pitchFamily="34" charset="-122"/>
                <a:cs typeface="IBM Plex Sans" pitchFamily="34" charset="-120"/>
              </a:rPr>
              <a:t>Re-allocate weekly packaging slots across many customers.</a:t>
            </a:r>
            <a:endParaRPr lang="en-US" sz="1300" dirty="0"/>
          </a:p>
        </p:txBody>
      </p:sp>
      <p:sp>
        <p:nvSpPr>
          <p:cNvPr id="24" name="Shape 22"/>
          <p:cNvSpPr/>
          <p:nvPr/>
        </p:nvSpPr>
        <p:spPr>
          <a:xfrm>
            <a:off x="7958634" y="3930253"/>
            <a:ext cx="3420566" cy="1740892"/>
          </a:xfrm>
          <a:prstGeom prst="roundRect">
            <a:avLst>
              <a:gd name="adj" fmla="val 5836"/>
            </a:avLst>
          </a:prstGeom>
          <a:solidFill>
            <a:srgbClr val="183041"/>
          </a:solidFill>
          <a:ln/>
        </p:spPr>
      </p:sp>
      <p:sp>
        <p:nvSpPr>
          <p:cNvPr id="25" name="Text 23"/>
          <p:cNvSpPr/>
          <p:nvPr/>
        </p:nvSpPr>
        <p:spPr>
          <a:xfrm>
            <a:off x="8161834" y="4133453"/>
            <a:ext cx="3104591"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3EFE6"/>
                </a:solidFill>
                <a:latin typeface="Space Grotesk" pitchFamily="34" charset="0"/>
                <a:ea typeface="Space Grotesk" pitchFamily="34" charset="-122"/>
                <a:cs typeface="Space Grotesk" pitchFamily="34" charset="-120"/>
              </a:rPr>
              <a:t>Distributors and EMS</a:t>
            </a:r>
            <a:endParaRPr lang="en-US" sz="1800" dirty="0"/>
          </a:p>
        </p:txBody>
      </p:sp>
      <p:sp>
        <p:nvSpPr>
          <p:cNvPr id="26" name="Text 24"/>
          <p:cNvSpPr/>
          <p:nvPr/>
        </p:nvSpPr>
        <p:spPr>
          <a:xfrm>
            <a:off x="8161834" y="4471194"/>
            <a:ext cx="3104591"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E9A23B"/>
                </a:solidFill>
                <a:latin typeface="IBM Plex Sans" pitchFamily="34" charset="0"/>
                <a:ea typeface="IBM Plex Sans" pitchFamily="34" charset="-122"/>
                <a:cs typeface="IBM Plex Sans" pitchFamily="34" charset="-120"/>
              </a:rPr>
              <a:t>Buyer: Allocation Manager</a:t>
            </a:r>
            <a:endParaRPr lang="en-US" sz="1200" dirty="0"/>
          </a:p>
        </p:txBody>
      </p:sp>
      <p:sp>
        <p:nvSpPr>
          <p:cNvPr id="27" name="Text 25"/>
          <p:cNvSpPr/>
          <p:nvPr/>
        </p:nvSpPr>
        <p:spPr>
          <a:xfrm>
            <a:off x="8161834" y="4748014"/>
            <a:ext cx="3104591"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B8C4CE"/>
                </a:solidFill>
                <a:latin typeface="IBM Plex Sans" pitchFamily="34" charset="0"/>
                <a:ea typeface="IBM Plex Sans" pitchFamily="34" charset="-122"/>
                <a:cs typeface="IBM Plex Sans" pitchFamily="34" charset="-120"/>
              </a:rPr>
              <a:t>Ration constrained parts fairly, and prove it.</a:t>
            </a:r>
            <a:endParaRPr lang="en-US" sz="1300" dirty="0"/>
          </a:p>
        </p:txBody>
      </p:sp>
      <p:sp>
        <p:nvSpPr>
          <p:cNvPr id="28" name="Text 26"/>
          <p:cNvSpPr/>
          <p:nvPr/>
        </p:nvSpPr>
        <p:spPr>
          <a:xfrm>
            <a:off x="812800" y="6238280"/>
            <a:ext cx="155805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A0AD"/>
                </a:solidFill>
                <a:latin typeface="IBM Plex Sans" pitchFamily="34" charset="0"/>
                <a:ea typeface="IBM Plex Sans" pitchFamily="34" charset="-122"/>
                <a:cs typeface="IBM Plex Sans" pitchFamily="34" charset="-120"/>
              </a:rPr>
              <a:t>Who we sell to · 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3EFE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9A5B08"/>
                </a:solidFill>
                <a:latin typeface="IBM Plex Sans" pitchFamily="34" charset="0"/>
                <a:ea typeface="IBM Plex Sans" pitchFamily="34" charset="-122"/>
                <a:cs typeface="IBM Plex Sans" pitchFamily="34" charset="-120"/>
              </a:rPr>
              <a:t>WHO WE SELL TO · USE CASES</a:t>
            </a:r>
            <a:endParaRPr lang="en-US" sz="1200" dirty="0"/>
          </a:p>
        </p:txBody>
      </p:sp>
      <p:sp>
        <p:nvSpPr>
          <p:cNvPr id="3" name="Text 1"/>
          <p:cNvSpPr/>
          <p:nvPr>
            <p:ph type="title"/>
          </p:nvPr>
        </p:nvSpPr>
        <p:spPr>
          <a:xfrm>
            <a:off x="812800" y="12801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2B"/>
                </a:solidFill>
                <a:latin typeface="Space Grotesk" pitchFamily="34" charset="0"/>
                <a:ea typeface="Space Grotesk" pitchFamily="34" charset="-122"/>
                <a:cs typeface="Space Grotesk" pitchFamily="34" charset="-120"/>
              </a:rPr>
              <a:t>What each segment buys SiliconFlow to do</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993801"/>
          <a:ext cx="10553700" cy="2701727"/>
        </p:xfrm>
        <a:graphic>
          <a:graphicData uri="http://schemas.openxmlformats.org/drawingml/2006/table">
            <a:tbl>
              <a:tblPr/>
              <a:tblGrid>
                <a:gridCol w="2955036"/>
                <a:gridCol w="5276850"/>
                <a:gridCol w="2321814"/>
              </a:tblGrid>
              <a:tr h="385961">
                <a:tc>
                  <a:txBody>
                    <a:bodyPr/>
                    <a:lstStyle/>
                    <a:p>
                      <a:pPr indent="0" marL="0">
                        <a:lnSpc>
                          <a:spcPts val="1960"/>
                        </a:lnSpc>
                        <a:buNone/>
                      </a:pPr>
                      <a:r>
                        <a:rPr lang="en-US" sz="1400" b="1" dirty="0">
                          <a:solidFill>
                            <a:srgbClr val="14212B"/>
                          </a:solidFill>
                          <a:latin typeface="IBM Plex Sans" pitchFamily="34" charset="0"/>
                          <a:ea typeface="IBM Plex Sans" pitchFamily="34" charset="-122"/>
                          <a:cs typeface="IBM Plex Sans" pitchFamily="34" charset="-120"/>
                        </a:rPr>
                        <a:t>Segment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2BFB8"/>
                      </a:solidFill>
                      <a:prstDash val="solid"/>
                      <a:round/>
                      <a:headEnd type="none" w="med" len="med"/>
                      <a:tailEnd type="none" w="med" len="med"/>
                    </a:lnL>
                    <a:lnR w="12700" cap="flat" cmpd="sng" algn="ctr">
                      <a:solidFill>
                        <a:srgbClr val="B4B1AA"/>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4B1AA"/>
                      </a:solidFill>
                      <a:prstDash val="solid"/>
                      <a:round/>
                      <a:headEnd type="none" w="med" len="med"/>
                      <a:tailEnd type="none" w="med" len="med"/>
                    </a:lnB>
                    <a:solidFill>
                      <a:srgbClr val="E1DDD5"/>
                    </a:solidFill>
                  </a:tcPr>
                </a:tc>
                <a:tc>
                  <a:txBody>
                    <a:bodyPr/>
                    <a:lstStyle/>
                    <a:p>
                      <a:pPr indent="0" marL="0">
                        <a:lnSpc>
                          <a:spcPts val="1960"/>
                        </a:lnSpc>
                        <a:buNone/>
                      </a:pPr>
                      <a:r>
                        <a:rPr lang="en-US" sz="1400" b="1" dirty="0">
                          <a:solidFill>
                            <a:srgbClr val="14212B"/>
                          </a:solidFill>
                          <a:latin typeface="IBM Plex Sans" pitchFamily="34" charset="0"/>
                          <a:ea typeface="IBM Plex Sans" pitchFamily="34" charset="-122"/>
                          <a:cs typeface="IBM Plex Sans" pitchFamily="34" charset="-120"/>
                        </a:rPr>
                        <a:t>Primary use case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4B1AA"/>
                      </a:solidFill>
                      <a:prstDash val="solid"/>
                      <a:round/>
                      <a:headEnd type="none" w="med" len="med"/>
                      <a:tailEnd type="none" w="med" len="med"/>
                    </a:lnL>
                    <a:lnR w="12700" cap="flat" cmpd="sng" algn="ctr">
                      <a:solidFill>
                        <a:srgbClr val="B4B1AA"/>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4B1AA"/>
                      </a:solidFill>
                      <a:prstDash val="solid"/>
                      <a:round/>
                      <a:headEnd type="none" w="med" len="med"/>
                      <a:tailEnd type="none" w="med" len="med"/>
                    </a:lnB>
                    <a:solidFill>
                      <a:srgbClr val="E1DDD5"/>
                    </a:solidFill>
                  </a:tcPr>
                </a:tc>
                <a:tc>
                  <a:txBody>
                    <a:bodyPr/>
                    <a:lstStyle/>
                    <a:p>
                      <a:pPr indent="0" marL="0">
                        <a:lnSpc>
                          <a:spcPts val="1960"/>
                        </a:lnSpc>
                        <a:buNone/>
                      </a:pPr>
                      <a:r>
                        <a:rPr lang="en-US" sz="1400" b="1" dirty="0">
                          <a:solidFill>
                            <a:srgbClr val="14212B"/>
                          </a:solidFill>
                          <a:latin typeface="IBM Plex Sans" pitchFamily="34" charset="0"/>
                          <a:ea typeface="IBM Plex Sans" pitchFamily="34" charset="-122"/>
                          <a:cs typeface="IBM Plex Sans" pitchFamily="34" charset="-120"/>
                        </a:rPr>
                        <a:t>Daily user</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4B1AA"/>
                      </a:solidFill>
                      <a:prstDash val="solid"/>
                      <a:round/>
                      <a:headEnd type="none" w="med" len="med"/>
                      <a:tailEnd type="none" w="med" len="med"/>
                    </a:lnL>
                    <a:lnR w="12700" cap="flat" cmpd="sng" algn="ctr">
                      <a:solidFill>
                        <a:srgbClr val="B4B1AA"/>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4B1AA"/>
                      </a:solidFill>
                      <a:prstDash val="solid"/>
                      <a:round/>
                      <a:headEnd type="none" w="med" len="med"/>
                      <a:tailEnd type="none" w="med" len="med"/>
                    </a:lnB>
                    <a:solidFill>
                      <a:srgbClr val="E1DDD5"/>
                    </a:solidFill>
                  </a:tcPr>
                </a:tc>
              </a:tr>
              <a:tr h="385961">
                <a:tc>
                  <a:txBody>
                    <a:bodyPr/>
                    <a:lstStyle/>
                    <a:p>
                      <a:pPr indent="0" marL="0">
                        <a:lnSpc>
                          <a:spcPts val="1960"/>
                        </a:lnSpc>
                        <a:buNone/>
                      </a:pPr>
                      <a:r>
                        <a:rPr lang="en-US" sz="1400" dirty="0">
                          <a:solidFill>
                            <a:srgbClr val="14212B"/>
                          </a:solidFill>
                          <a:latin typeface="IBM Plex Sans" pitchFamily="34" charset="0"/>
                          <a:ea typeface="IBM Plex Sans" pitchFamily="34" charset="-122"/>
                          <a:cs typeface="IBM Plex Sans" pitchFamily="34" charset="-120"/>
                        </a:rPr>
                        <a:t>Fabless and AI chips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4B1AA"/>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indent="0" marL="0">
                        <a:lnSpc>
                          <a:spcPts val="1960"/>
                        </a:lnSpc>
                        <a:buNone/>
                      </a:pPr>
                      <a:r>
                        <a:rPr lang="en-US" sz="1400" dirty="0">
                          <a:solidFill>
                            <a:srgbClr val="14212B"/>
                          </a:solidFill>
                          <a:latin typeface="IBM Plex Sans" pitchFamily="34" charset="0"/>
                          <a:ea typeface="IBM Plex Sans" pitchFamily="34" charset="-122"/>
                          <a:cs typeface="IBM Plex Sans" pitchFamily="34" charset="-120"/>
                        </a:rPr>
                        <a:t>Allocate packaging and HBM slots per order and week</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4B1AA"/>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indent="0" marL="0">
                        <a:lnSpc>
                          <a:spcPts val="1960"/>
                        </a:lnSpc>
                        <a:buNone/>
                      </a:pPr>
                      <a:r>
                        <a:rPr lang="en-US" sz="1400" dirty="0">
                          <a:solidFill>
                            <a:srgbClr val="14212B"/>
                          </a:solidFill>
                          <a:latin typeface="IBM Plex Sans" pitchFamily="34" charset="0"/>
                          <a:ea typeface="IBM Plex Sans" pitchFamily="34" charset="-122"/>
                          <a:cs typeface="IBM Plex Sans" pitchFamily="34" charset="-120"/>
                        </a:rPr>
                        <a:t>Supply planner</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4B1AA"/>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r>
              <a:tr h="385961">
                <a:tc>
                  <a:txBody>
                    <a:bodyPr/>
                    <a:lstStyle/>
                    <a:p>
                      <a:pPr indent="0" marL="0">
                        <a:lnSpc>
                          <a:spcPts val="1960"/>
                        </a:lnSpc>
                        <a:buNone/>
                      </a:pPr>
                      <a:r>
                        <a:rPr lang="en-US" sz="1400" dirty="0">
                          <a:solidFill>
                            <a:srgbClr val="14212B"/>
                          </a:solidFill>
                          <a:latin typeface="IBM Plex Sans" pitchFamily="34" charset="0"/>
                          <a:ea typeface="IBM Plex Sans" pitchFamily="34" charset="-122"/>
                          <a:cs typeface="IBM Plex Sans" pitchFamily="34" charset="-120"/>
                        </a:rPr>
                        <a:t>Hyperscalers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indent="0" marL="0">
                        <a:lnSpc>
                          <a:spcPts val="1960"/>
                        </a:lnSpc>
                        <a:buNone/>
                      </a:pPr>
                      <a:r>
                        <a:rPr lang="en-US" sz="1400" dirty="0">
                          <a:solidFill>
                            <a:srgbClr val="14212B"/>
                          </a:solidFill>
                          <a:latin typeface="IBM Plex Sans" pitchFamily="34" charset="0"/>
                          <a:ea typeface="IBM Plex Sans" pitchFamily="34" charset="-122"/>
                          <a:cs typeface="IBM Plex Sans" pitchFamily="34" charset="-120"/>
                        </a:rPr>
                        <a:t>See which accelerator deliveries slip, and why</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indent="0" marL="0">
                        <a:lnSpc>
                          <a:spcPts val="1960"/>
                        </a:lnSpc>
                        <a:buNone/>
                      </a:pPr>
                      <a:r>
                        <a:rPr lang="en-US" sz="1400" dirty="0">
                          <a:solidFill>
                            <a:srgbClr val="14212B"/>
                          </a:solidFill>
                          <a:latin typeface="IBM Plex Sans" pitchFamily="34" charset="0"/>
                          <a:ea typeface="IBM Plex Sans" pitchFamily="34" charset="-122"/>
                          <a:cs typeface="IBM Plex Sans" pitchFamily="34" charset="-120"/>
                        </a:rPr>
                        <a:t>Capacity planner</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r>
              <a:tr h="385961">
                <a:tc>
                  <a:txBody>
                    <a:bodyPr/>
                    <a:lstStyle/>
                    <a:p>
                      <a:pPr indent="0" marL="0">
                        <a:lnSpc>
                          <a:spcPts val="1960"/>
                        </a:lnSpc>
                        <a:buNone/>
                      </a:pPr>
                      <a:r>
                        <a:rPr lang="en-US" sz="1400" dirty="0">
                          <a:solidFill>
                            <a:srgbClr val="14212B"/>
                          </a:solidFill>
                          <a:latin typeface="IBM Plex Sans" pitchFamily="34" charset="0"/>
                          <a:ea typeface="IBM Plex Sans" pitchFamily="34" charset="-122"/>
                          <a:cs typeface="IBM Plex Sans" pitchFamily="34" charset="-120"/>
                        </a:rPr>
                        <a:t>Auto and industrial OEMs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indent="0" marL="0">
                        <a:lnSpc>
                          <a:spcPts val="1960"/>
                        </a:lnSpc>
                        <a:buNone/>
                      </a:pPr>
                      <a:r>
                        <a:rPr lang="en-US" sz="1400" dirty="0">
                          <a:solidFill>
                            <a:srgbClr val="14212B"/>
                          </a:solidFill>
                          <a:latin typeface="IBM Plex Sans" pitchFamily="34" charset="0"/>
                          <a:ea typeface="IBM Plex Sans" pitchFamily="34" charset="-122"/>
                          <a:cs typeface="IBM Plex Sans" pitchFamily="34" charset="-120"/>
                        </a:rPr>
                        <a:t>Tier 2-3 warning and recovery plans before the line stops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indent="0" marL="0">
                        <a:lnSpc>
                          <a:spcPts val="1960"/>
                        </a:lnSpc>
                        <a:buNone/>
                      </a:pPr>
                      <a:r>
                        <a:rPr lang="en-US" sz="1400" dirty="0">
                          <a:solidFill>
                            <a:srgbClr val="14212B"/>
                          </a:solidFill>
                          <a:latin typeface="IBM Plex Sans" pitchFamily="34" charset="0"/>
                          <a:ea typeface="IBM Plex Sans" pitchFamily="34" charset="-122"/>
                          <a:cs typeface="IBM Plex Sans" pitchFamily="34" charset="-120"/>
                        </a:rPr>
                        <a:t>Procurement lead</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r>
              <a:tr h="385961">
                <a:tc>
                  <a:txBody>
                    <a:bodyPr/>
                    <a:lstStyle/>
                    <a:p>
                      <a:pPr indent="0" marL="0">
                        <a:lnSpc>
                          <a:spcPts val="1960"/>
                        </a:lnSpc>
                        <a:buNone/>
                      </a:pPr>
                      <a:r>
                        <a:rPr lang="en-US" sz="1400" dirty="0">
                          <a:solidFill>
                            <a:srgbClr val="14212B"/>
                          </a:solidFill>
                          <a:latin typeface="IBM Plex Sans" pitchFamily="34" charset="0"/>
                          <a:ea typeface="IBM Plex Sans" pitchFamily="34" charset="-122"/>
                          <a:cs typeface="IBM Plex Sans" pitchFamily="34" charset="-120"/>
                        </a:rPr>
                        <a:t>Foundries and new fabs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indent="0" marL="0">
                        <a:lnSpc>
                          <a:spcPts val="1960"/>
                        </a:lnSpc>
                        <a:buNone/>
                      </a:pPr>
                      <a:r>
                        <a:rPr lang="en-US" sz="1400" dirty="0">
                          <a:solidFill>
                            <a:srgbClr val="14212B"/>
                          </a:solidFill>
                          <a:latin typeface="IBM Plex Sans" pitchFamily="34" charset="0"/>
                          <a:ea typeface="IBM Plex Sans" pitchFamily="34" charset="-122"/>
                          <a:cs typeface="IBM Plex Sans" pitchFamily="34" charset="-120"/>
                        </a:rPr>
                        <a:t>Day-one supplier, route and export compliance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indent="0" marL="0">
                        <a:lnSpc>
                          <a:spcPts val="1960"/>
                        </a:lnSpc>
                        <a:buNone/>
                      </a:pPr>
                      <a:r>
                        <a:rPr lang="en-US" sz="1400" dirty="0">
                          <a:solidFill>
                            <a:srgbClr val="14212B"/>
                          </a:solidFill>
                          <a:latin typeface="IBM Plex Sans" pitchFamily="34" charset="0"/>
                          <a:ea typeface="IBM Plex Sans" pitchFamily="34" charset="-122"/>
                          <a:cs typeface="IBM Plex Sans" pitchFamily="34" charset="-120"/>
                        </a:rPr>
                        <a:t>Fab supply lead</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r>
              <a:tr h="385961">
                <a:tc>
                  <a:txBody>
                    <a:bodyPr/>
                    <a:lstStyle/>
                    <a:p>
                      <a:pPr indent="0" marL="0">
                        <a:lnSpc>
                          <a:spcPts val="1960"/>
                        </a:lnSpc>
                        <a:buNone/>
                      </a:pPr>
                      <a:r>
                        <a:rPr lang="en-US" sz="1400" dirty="0">
                          <a:solidFill>
                            <a:srgbClr val="14212B"/>
                          </a:solidFill>
                          <a:latin typeface="IBM Plex Sans" pitchFamily="34" charset="0"/>
                          <a:ea typeface="IBM Plex Sans" pitchFamily="34" charset="-122"/>
                          <a:cs typeface="IBM Plex Sans" pitchFamily="34" charset="-120"/>
                        </a:rPr>
                        <a:t>OSATs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indent="0" marL="0">
                        <a:lnSpc>
                          <a:spcPts val="1960"/>
                        </a:lnSpc>
                        <a:buNone/>
                      </a:pPr>
                      <a:r>
                        <a:rPr lang="en-US" sz="1400" dirty="0">
                          <a:solidFill>
                            <a:srgbClr val="14212B"/>
                          </a:solidFill>
                          <a:latin typeface="IBM Plex Sans" pitchFamily="34" charset="0"/>
                          <a:ea typeface="IBM Plex Sans" pitchFamily="34" charset="-122"/>
                          <a:cs typeface="IBM Plex Sans" pitchFamily="34" charset="-120"/>
                        </a:rPr>
                        <a:t>Publish slot changes; send signed confirmations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indent="0" marL="0">
                        <a:lnSpc>
                          <a:spcPts val="1960"/>
                        </a:lnSpc>
                        <a:buNone/>
                      </a:pPr>
                      <a:r>
                        <a:rPr lang="en-US" sz="1400" dirty="0">
                          <a:solidFill>
                            <a:srgbClr val="14212B"/>
                          </a:solidFill>
                          <a:latin typeface="IBM Plex Sans" pitchFamily="34" charset="0"/>
                          <a:ea typeface="IBM Plex Sans" pitchFamily="34" charset="-122"/>
                          <a:cs typeface="IBM Plex Sans" pitchFamily="34" charset="-120"/>
                        </a:rPr>
                        <a:t>Capacity planner</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r>
              <a:tr h="385961">
                <a:tc>
                  <a:txBody>
                    <a:bodyPr/>
                    <a:lstStyle/>
                    <a:p>
                      <a:pPr indent="0" marL="0">
                        <a:lnSpc>
                          <a:spcPts val="1960"/>
                        </a:lnSpc>
                        <a:buNone/>
                      </a:pPr>
                      <a:r>
                        <a:rPr lang="en-US" sz="1400" dirty="0">
                          <a:solidFill>
                            <a:srgbClr val="14212B"/>
                          </a:solidFill>
                          <a:latin typeface="IBM Plex Sans" pitchFamily="34" charset="0"/>
                          <a:ea typeface="IBM Plex Sans" pitchFamily="34" charset="-122"/>
                          <a:cs typeface="IBM Plex Sans" pitchFamily="34" charset="-120"/>
                        </a:rPr>
                        <a:t>Distributors and EMS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indent="0" marL="0">
                        <a:lnSpc>
                          <a:spcPts val="1960"/>
                        </a:lnSpc>
                        <a:buNone/>
                      </a:pPr>
                      <a:r>
                        <a:rPr lang="en-US" sz="1400" dirty="0">
                          <a:solidFill>
                            <a:srgbClr val="14212B"/>
                          </a:solidFill>
                          <a:latin typeface="IBM Plex Sans" pitchFamily="34" charset="0"/>
                          <a:ea typeface="IBM Plex Sans" pitchFamily="34" charset="-122"/>
                          <a:cs typeface="IBM Plex Sans" pitchFamily="34" charset="-120"/>
                        </a:rPr>
                        <a:t>Ration scarce parts with an auditable rule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indent="0" marL="0">
                        <a:lnSpc>
                          <a:spcPts val="1960"/>
                        </a:lnSpc>
                        <a:buNone/>
                      </a:pPr>
                      <a:r>
                        <a:rPr lang="en-US" sz="1400" dirty="0">
                          <a:solidFill>
                            <a:srgbClr val="14212B"/>
                          </a:solidFill>
                          <a:latin typeface="IBM Plex Sans" pitchFamily="34" charset="0"/>
                          <a:ea typeface="IBM Plex Sans" pitchFamily="34" charset="-122"/>
                          <a:cs typeface="IBM Plex Sans" pitchFamily="34" charset="-120"/>
                        </a:rPr>
                        <a:t>Allocation manager</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r>
            </a:tbl>
          </a:graphicData>
        </a:graphic>
      </p:graphicFrame>
      <p:sp>
        <p:nvSpPr>
          <p:cNvPr id="5" name="Text 2"/>
          <p:cNvSpPr/>
          <p:nvPr/>
        </p:nvSpPr>
        <p:spPr>
          <a:xfrm>
            <a:off x="812800" y="4949527"/>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6525C"/>
                </a:solidFill>
                <a:latin typeface="IBM Plex Sans" pitchFamily="34" charset="0"/>
                <a:ea typeface="IBM Plex Sans" pitchFamily="34" charset="-122"/>
                <a:cs typeface="IBM Plex Sans" pitchFamily="34" charset="-120"/>
              </a:rPr>
              <a:t>Trade compliance and operations leaders sit in every segment: they gate and approve every plan.</a:t>
            </a:r>
            <a:endParaRPr lang="en-US" sz="1400" dirty="0"/>
          </a:p>
        </p:txBody>
      </p:sp>
      <p:sp>
        <p:nvSpPr>
          <p:cNvPr id="6" name="Text 3"/>
          <p:cNvSpPr/>
          <p:nvPr/>
        </p:nvSpPr>
        <p:spPr>
          <a:xfrm>
            <a:off x="812800" y="6238280"/>
            <a:ext cx="155805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79"/>
                </a:solidFill>
                <a:latin typeface="IBM Plex Sans" pitchFamily="34" charset="0"/>
                <a:ea typeface="IBM Plex Sans" pitchFamily="34" charset="-122"/>
                <a:cs typeface="IBM Plex Sans" pitchFamily="34" charset="-120"/>
              </a:rPr>
              <a:t>Who we sell to · 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F1B2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E9A23B"/>
                </a:solidFill>
                <a:latin typeface="IBM Plex Sans" pitchFamily="34" charset="0"/>
                <a:ea typeface="IBM Plex Sans" pitchFamily="34" charset="-122"/>
                <a:cs typeface="IBM Plex Sans" pitchFamily="34" charset="-120"/>
              </a:rPr>
              <a:t>WHO WE SELL TO · USER IMPACT</a:t>
            </a:r>
            <a:endParaRPr lang="en-US" sz="1200" dirty="0"/>
          </a:p>
        </p:txBody>
      </p:sp>
      <p:sp>
        <p:nvSpPr>
          <p:cNvPr id="3" name="Text 1"/>
          <p:cNvSpPr/>
          <p:nvPr>
            <p:ph type="title"/>
          </p:nvPr>
        </p:nvSpPr>
        <p:spPr>
          <a:xfrm>
            <a:off x="812800" y="12801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F3EFE6"/>
                </a:solidFill>
                <a:latin typeface="Space Grotesk" pitchFamily="34" charset="0"/>
                <a:ea typeface="Space Grotesk" pitchFamily="34" charset="-122"/>
                <a:cs typeface="Space Grotesk" pitchFamily="34" charset="-120"/>
              </a:rPr>
              <a:t>Six people whose working week changes</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993801"/>
          <a:ext cx="10553700" cy="2950567"/>
        </p:xfrm>
        <a:graphic>
          <a:graphicData uri="http://schemas.openxmlformats.org/drawingml/2006/table">
            <a:tbl>
              <a:tblPr/>
              <a:tblGrid>
                <a:gridCol w="2532888"/>
                <a:gridCol w="3799332"/>
                <a:gridCol w="4221480"/>
              </a:tblGrid>
              <a:tr h="385961">
                <a:tc>
                  <a:txBody>
                    <a:bodyPr/>
                    <a:lstStyle/>
                    <a:p>
                      <a:pPr indent="0" marL="0">
                        <a:lnSpc>
                          <a:spcPts val="1960"/>
                        </a:lnSpc>
                        <a:buNone/>
                      </a:pPr>
                      <a:r>
                        <a:rPr lang="en-US" sz="1400" b="1" dirty="0">
                          <a:solidFill>
                            <a:srgbClr val="E9A23B"/>
                          </a:solidFill>
                          <a:latin typeface="IBM Plex Sans" pitchFamily="34" charset="0"/>
                          <a:ea typeface="IBM Plex Sans" pitchFamily="34" charset="-122"/>
                          <a:cs typeface="IBM Plex Sans" pitchFamily="34" charset="-120"/>
                        </a:rPr>
                        <a:t>User</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434C54"/>
                      </a:solidFill>
                      <a:prstDash val="solid"/>
                      <a:round/>
                      <a:headEnd type="none" w="med" len="med"/>
                      <a:tailEnd type="none" w="med" len="med"/>
                    </a:lnL>
                    <a:lnR w="12700" cap="flat" cmpd="sng" algn="ctr">
                      <a:solidFill>
                        <a:srgbClr val="525A61"/>
                      </a:solidFill>
                      <a:prstDash val="solid"/>
                      <a:round/>
                      <a:headEnd type="none" w="med" len="med"/>
                      <a:tailEnd type="none" w="med" len="med"/>
                    </a:lnR>
                    <a:lnT w="12700" cap="flat" cmpd="sng" algn="ctr">
                      <a:solidFill>
                        <a:srgbClr val="434C54"/>
                      </a:solidFill>
                      <a:prstDash val="solid"/>
                      <a:round/>
                      <a:headEnd type="none" w="med" len="med"/>
                      <a:tailEnd type="none" w="med" len="med"/>
                    </a:lnT>
                    <a:lnB w="12700" cap="flat" cmpd="sng" algn="ctr">
                      <a:solidFill>
                        <a:srgbClr val="525A61"/>
                      </a:solidFill>
                      <a:prstDash val="solid"/>
                      <a:round/>
                      <a:headEnd type="none" w="med" len="med"/>
                      <a:tailEnd type="none" w="med" len="med"/>
                    </a:lnB>
                    <a:solidFill>
                      <a:srgbClr val="222D37"/>
                    </a:solidFill>
                  </a:tcPr>
                </a:tc>
                <a:tc>
                  <a:txBody>
                    <a:bodyPr/>
                    <a:lstStyle/>
                    <a:p>
                      <a:pPr indent="0" marL="0">
                        <a:lnSpc>
                          <a:spcPts val="1960"/>
                        </a:lnSpc>
                        <a:buNone/>
                      </a:pPr>
                      <a:r>
                        <a:rPr lang="en-US" sz="1400" b="1" dirty="0">
                          <a:solidFill>
                            <a:srgbClr val="E9A23B"/>
                          </a:solidFill>
                          <a:latin typeface="IBM Plex Sans" pitchFamily="34" charset="0"/>
                          <a:ea typeface="IBM Plex Sans" pitchFamily="34" charset="-122"/>
                          <a:cs typeface="IBM Plex Sans" pitchFamily="34" charset="-120"/>
                        </a:rPr>
                        <a:t>Today</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525A61"/>
                      </a:solidFill>
                      <a:prstDash val="solid"/>
                      <a:round/>
                      <a:headEnd type="none" w="med" len="med"/>
                      <a:tailEnd type="none" w="med" len="med"/>
                    </a:lnL>
                    <a:lnR w="12700" cap="flat" cmpd="sng" algn="ctr">
                      <a:solidFill>
                        <a:srgbClr val="525A61"/>
                      </a:solidFill>
                      <a:prstDash val="solid"/>
                      <a:round/>
                      <a:headEnd type="none" w="med" len="med"/>
                      <a:tailEnd type="none" w="med" len="med"/>
                    </a:lnR>
                    <a:lnT w="12700" cap="flat" cmpd="sng" algn="ctr">
                      <a:solidFill>
                        <a:srgbClr val="434C54"/>
                      </a:solidFill>
                      <a:prstDash val="solid"/>
                      <a:round/>
                      <a:headEnd type="none" w="med" len="med"/>
                      <a:tailEnd type="none" w="med" len="med"/>
                    </a:lnT>
                    <a:lnB w="12700" cap="flat" cmpd="sng" algn="ctr">
                      <a:solidFill>
                        <a:srgbClr val="525A61"/>
                      </a:solidFill>
                      <a:prstDash val="solid"/>
                      <a:round/>
                      <a:headEnd type="none" w="med" len="med"/>
                      <a:tailEnd type="none" w="med" len="med"/>
                    </a:lnB>
                    <a:solidFill>
                      <a:srgbClr val="222D37"/>
                    </a:solidFill>
                  </a:tcPr>
                </a:tc>
                <a:tc>
                  <a:txBody>
                    <a:bodyPr/>
                    <a:lstStyle/>
                    <a:p>
                      <a:pPr indent="0" marL="0">
                        <a:lnSpc>
                          <a:spcPts val="1960"/>
                        </a:lnSpc>
                        <a:buNone/>
                      </a:pPr>
                      <a:r>
                        <a:rPr lang="en-US" sz="1400" b="1" dirty="0">
                          <a:solidFill>
                            <a:srgbClr val="4CC3B0"/>
                          </a:solidFill>
                          <a:latin typeface="IBM Plex Sans" pitchFamily="34" charset="0"/>
                          <a:ea typeface="IBM Plex Sans" pitchFamily="34" charset="-122"/>
                          <a:cs typeface="IBM Plex Sans" pitchFamily="34" charset="-120"/>
                        </a:rPr>
                        <a:t>With SiliconFlow</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525A61"/>
                      </a:solidFill>
                      <a:prstDash val="solid"/>
                      <a:round/>
                      <a:headEnd type="none" w="med" len="med"/>
                      <a:tailEnd type="none" w="med" len="med"/>
                    </a:lnL>
                    <a:lnR w="12700" cap="flat" cmpd="sng" algn="ctr">
                      <a:solidFill>
                        <a:srgbClr val="525A61"/>
                      </a:solidFill>
                      <a:prstDash val="solid"/>
                      <a:round/>
                      <a:headEnd type="none" w="med" len="med"/>
                      <a:tailEnd type="none" w="med" len="med"/>
                    </a:lnR>
                    <a:lnT w="12700" cap="flat" cmpd="sng" algn="ctr">
                      <a:solidFill>
                        <a:srgbClr val="434C54"/>
                      </a:solidFill>
                      <a:prstDash val="solid"/>
                      <a:round/>
                      <a:headEnd type="none" w="med" len="med"/>
                      <a:tailEnd type="none" w="med" len="med"/>
                    </a:lnT>
                    <a:lnB w="12700" cap="flat" cmpd="sng" algn="ctr">
                      <a:solidFill>
                        <a:srgbClr val="525A61"/>
                      </a:solidFill>
                      <a:prstDash val="solid"/>
                      <a:round/>
                      <a:headEnd type="none" w="med" len="med"/>
                      <a:tailEnd type="none" w="med" len="med"/>
                    </a:lnB>
                    <a:solidFill>
                      <a:srgbClr val="222D37"/>
                    </a:solidFill>
                  </a:tcPr>
                </a:tc>
              </a:tr>
              <a:tr h="385961">
                <a:tc>
                  <a:txBody>
                    <a:bodyPr/>
                    <a:lstStyle/>
                    <a:p>
                      <a:pPr indent="0" marL="0">
                        <a:lnSpc>
                          <a:spcPts val="1960"/>
                        </a:lnSpc>
                        <a:buNone/>
                      </a:pPr>
                      <a:r>
                        <a:rPr lang="en-US" sz="1400" dirty="0">
                          <a:solidFill>
                            <a:srgbClr val="F3EFE6"/>
                          </a:solidFill>
                          <a:latin typeface="IBM Plex Sans" pitchFamily="34" charset="0"/>
                          <a:ea typeface="IBM Plex Sans" pitchFamily="34" charset="-122"/>
                          <a:cs typeface="IBM Plex Sans" pitchFamily="34" charset="-120"/>
                        </a:rPr>
                        <a:t>Supply planner</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434C54"/>
                      </a:solidFill>
                      <a:prstDash val="solid"/>
                      <a:round/>
                      <a:headEnd type="none" w="med" len="med"/>
                      <a:tailEnd type="none" w="med" len="med"/>
                    </a:lnL>
                    <a:lnR w="12700" cap="flat" cmpd="sng" algn="ctr">
                      <a:solidFill>
                        <a:srgbClr val="434C54"/>
                      </a:solidFill>
                      <a:prstDash val="solid"/>
                      <a:round/>
                      <a:headEnd type="none" w="med" len="med"/>
                      <a:tailEnd type="none" w="med" len="med"/>
                    </a:lnR>
                    <a:lnT w="12700" cap="flat" cmpd="sng" algn="ctr">
                      <a:solidFill>
                        <a:srgbClr val="525A61"/>
                      </a:solidFill>
                      <a:prstDash val="solid"/>
                      <a:round/>
                      <a:headEnd type="none" w="med" len="med"/>
                      <a:tailEnd type="none" w="med" len="med"/>
                    </a:lnT>
                    <a:lnB w="12700" cap="flat" cmpd="sng" algn="ctr">
                      <a:solidFill>
                        <a:srgbClr val="434C54"/>
                      </a:solidFill>
                      <a:prstDash val="solid"/>
                      <a:round/>
                      <a:headEnd type="none" w="med" len="med"/>
                      <a:tailEnd type="none" w="med" len="med"/>
                    </a:lnB>
                  </a:tcPr>
                </a:tc>
                <a:tc>
                  <a:txBody>
                    <a:bodyPr/>
                    <a:lstStyle/>
                    <a:p>
                      <a:pPr indent="0" marL="0">
                        <a:lnSpc>
                          <a:spcPts val="1960"/>
                        </a:lnSpc>
                        <a:buNone/>
                      </a:pPr>
                      <a:r>
                        <a:rPr lang="en-US" sz="1400" dirty="0">
                          <a:solidFill>
                            <a:srgbClr val="B8C4CE"/>
                          </a:solidFill>
                          <a:latin typeface="IBM Plex Sans" pitchFamily="34" charset="0"/>
                          <a:ea typeface="IBM Plex Sans" pitchFamily="34" charset="-122"/>
                          <a:cs typeface="IBM Plex Sans" pitchFamily="34" charset="-120"/>
                        </a:rPr>
                        <a:t>Rebuilds spreadsheets after every cut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434C54"/>
                      </a:solidFill>
                      <a:prstDash val="solid"/>
                      <a:round/>
                      <a:headEnd type="none" w="med" len="med"/>
                      <a:tailEnd type="none" w="med" len="med"/>
                    </a:lnL>
                    <a:lnR w="12700" cap="flat" cmpd="sng" algn="ctr">
                      <a:solidFill>
                        <a:srgbClr val="434C54"/>
                      </a:solidFill>
                      <a:prstDash val="solid"/>
                      <a:round/>
                      <a:headEnd type="none" w="med" len="med"/>
                      <a:tailEnd type="none" w="med" len="med"/>
                    </a:lnR>
                    <a:lnT w="12700" cap="flat" cmpd="sng" algn="ctr">
                      <a:solidFill>
                        <a:srgbClr val="525A61"/>
                      </a:solidFill>
                      <a:prstDash val="solid"/>
                      <a:round/>
                      <a:headEnd type="none" w="med" len="med"/>
                      <a:tailEnd type="none" w="med" len="med"/>
                    </a:lnT>
                    <a:lnB w="12700" cap="flat" cmpd="sng" algn="ctr">
                      <a:solidFill>
                        <a:srgbClr val="434C54"/>
                      </a:solidFill>
                      <a:prstDash val="solid"/>
                      <a:round/>
                      <a:headEnd type="none" w="med" len="med"/>
                      <a:tailEnd type="none" w="med" len="med"/>
                    </a:lnB>
                  </a:tcPr>
                </a:tc>
                <a:tc>
                  <a:txBody>
                    <a:bodyPr/>
                    <a:lstStyle/>
                    <a:p>
                      <a:pPr indent="0" marL="0">
                        <a:lnSpc>
                          <a:spcPts val="1960"/>
                        </a:lnSpc>
                        <a:buNone/>
                      </a:pPr>
                      <a:r>
                        <a:rPr lang="en-US" sz="1400" dirty="0">
                          <a:solidFill>
                            <a:srgbClr val="F3EFE6"/>
                          </a:solidFill>
                          <a:latin typeface="IBM Plex Sans" pitchFamily="34" charset="0"/>
                          <a:ea typeface="IBM Plex Sans" pitchFamily="34" charset="-122"/>
                          <a:cs typeface="IBM Plex Sans" pitchFamily="34" charset="-120"/>
                        </a:rPr>
                        <a:t>Ranked, verified plans in seconds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434C54"/>
                      </a:solidFill>
                      <a:prstDash val="solid"/>
                      <a:round/>
                      <a:headEnd type="none" w="med" len="med"/>
                      <a:tailEnd type="none" w="med" len="med"/>
                    </a:lnL>
                    <a:lnR w="12700" cap="flat" cmpd="sng" algn="ctr">
                      <a:solidFill>
                        <a:srgbClr val="434C54"/>
                      </a:solidFill>
                      <a:prstDash val="solid"/>
                      <a:round/>
                      <a:headEnd type="none" w="med" len="med"/>
                      <a:tailEnd type="none" w="med" len="med"/>
                    </a:lnR>
                    <a:lnT w="12700" cap="flat" cmpd="sng" algn="ctr">
                      <a:solidFill>
                        <a:srgbClr val="525A61"/>
                      </a:solidFill>
                      <a:prstDash val="solid"/>
                      <a:round/>
                      <a:headEnd type="none" w="med" len="med"/>
                      <a:tailEnd type="none" w="med" len="med"/>
                    </a:lnT>
                    <a:lnB w="12700" cap="flat" cmpd="sng" algn="ctr">
                      <a:solidFill>
                        <a:srgbClr val="434C54"/>
                      </a:solidFill>
                      <a:prstDash val="solid"/>
                      <a:round/>
                      <a:headEnd type="none" w="med" len="med"/>
                      <a:tailEnd type="none" w="med" len="med"/>
                    </a:lnB>
                  </a:tcPr>
                </a:tc>
              </a:tr>
              <a:tr h="634802">
                <a:tc>
                  <a:txBody>
                    <a:bodyPr/>
                    <a:lstStyle/>
                    <a:p>
                      <a:pPr indent="0" marL="0">
                        <a:lnSpc>
                          <a:spcPts val="1960"/>
                        </a:lnSpc>
                        <a:buNone/>
                      </a:pPr>
                      <a:r>
                        <a:rPr lang="en-US" sz="1400" dirty="0">
                          <a:solidFill>
                            <a:srgbClr val="F3EFE6"/>
                          </a:solidFill>
                          <a:latin typeface="IBM Plex Sans" pitchFamily="34" charset="0"/>
                          <a:ea typeface="IBM Plex Sans" pitchFamily="34" charset="-122"/>
                          <a:cs typeface="IBM Plex Sans" pitchFamily="34" charset="-120"/>
                        </a:rPr>
                        <a:t>Procurement lead</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434C54"/>
                      </a:solidFill>
                      <a:prstDash val="solid"/>
                      <a:round/>
                      <a:headEnd type="none" w="med" len="med"/>
                      <a:tailEnd type="none" w="med" len="med"/>
                    </a:lnL>
                    <a:lnR w="12700" cap="flat" cmpd="sng" algn="ctr">
                      <a:solidFill>
                        <a:srgbClr val="434C54"/>
                      </a:solidFill>
                      <a:prstDash val="solid"/>
                      <a:round/>
                      <a:headEnd type="none" w="med" len="med"/>
                      <a:tailEnd type="none" w="med" len="med"/>
                    </a:lnR>
                    <a:lnT w="12700" cap="flat" cmpd="sng" algn="ctr">
                      <a:solidFill>
                        <a:srgbClr val="434C54"/>
                      </a:solidFill>
                      <a:prstDash val="solid"/>
                      <a:round/>
                      <a:headEnd type="none" w="med" len="med"/>
                      <a:tailEnd type="none" w="med" len="med"/>
                    </a:lnT>
                    <a:lnB w="12700" cap="flat" cmpd="sng" algn="ctr">
                      <a:solidFill>
                        <a:srgbClr val="434C54"/>
                      </a:solidFill>
                      <a:prstDash val="solid"/>
                      <a:round/>
                      <a:headEnd type="none" w="med" len="med"/>
                      <a:tailEnd type="none" w="med" len="med"/>
                    </a:lnB>
                  </a:tcPr>
                </a:tc>
                <a:tc>
                  <a:txBody>
                    <a:bodyPr/>
                    <a:lstStyle/>
                    <a:p>
                      <a:pPr indent="0" marL="0">
                        <a:lnSpc>
                          <a:spcPts val="1960"/>
                        </a:lnSpc>
                        <a:buNone/>
                      </a:pPr>
                      <a:r>
                        <a:rPr lang="en-US" sz="1400" dirty="0">
                          <a:solidFill>
                            <a:srgbClr val="B8C4CE"/>
                          </a:solidFill>
                          <a:latin typeface="IBM Plex Sans" pitchFamily="34" charset="0"/>
                          <a:ea typeface="IBM Plex Sans" pitchFamily="34" charset="-122"/>
                          <a:cs typeface="IBM Plex Sans" pitchFamily="34" charset="-120"/>
                        </a:rPr>
                        <a:t>Hears of tier-3 trouble when a shipment is late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434C54"/>
                      </a:solidFill>
                      <a:prstDash val="solid"/>
                      <a:round/>
                      <a:headEnd type="none" w="med" len="med"/>
                      <a:tailEnd type="none" w="med" len="med"/>
                    </a:lnL>
                    <a:lnR w="12700" cap="flat" cmpd="sng" algn="ctr">
                      <a:solidFill>
                        <a:srgbClr val="434C54"/>
                      </a:solidFill>
                      <a:prstDash val="solid"/>
                      <a:round/>
                      <a:headEnd type="none" w="med" len="med"/>
                      <a:tailEnd type="none" w="med" len="med"/>
                    </a:lnR>
                    <a:lnT w="12700" cap="flat" cmpd="sng" algn="ctr">
                      <a:solidFill>
                        <a:srgbClr val="434C54"/>
                      </a:solidFill>
                      <a:prstDash val="solid"/>
                      <a:round/>
                      <a:headEnd type="none" w="med" len="med"/>
                      <a:tailEnd type="none" w="med" len="med"/>
                    </a:lnT>
                    <a:lnB w="12700" cap="flat" cmpd="sng" algn="ctr">
                      <a:solidFill>
                        <a:srgbClr val="434C54"/>
                      </a:solidFill>
                      <a:prstDash val="solid"/>
                      <a:round/>
                      <a:headEnd type="none" w="med" len="med"/>
                      <a:tailEnd type="none" w="med" len="med"/>
                    </a:lnB>
                  </a:tcPr>
                </a:tc>
                <a:tc>
                  <a:txBody>
                    <a:bodyPr/>
                    <a:lstStyle/>
                    <a:p>
                      <a:pPr indent="0" marL="0">
                        <a:lnSpc>
                          <a:spcPts val="1960"/>
                        </a:lnSpc>
                        <a:buNone/>
                      </a:pPr>
                      <a:r>
                        <a:rPr lang="en-US" sz="1400" dirty="0">
                          <a:solidFill>
                            <a:srgbClr val="F3EFE6"/>
                          </a:solidFill>
                          <a:latin typeface="IBM Plex Sans" pitchFamily="34" charset="0"/>
                          <a:ea typeface="IBM Plex Sans" pitchFamily="34" charset="-122"/>
                          <a:cs typeface="IBM Plex Sans" pitchFamily="34" charset="-120"/>
                        </a:rPr>
                        <a:t>Sourced risk events with evidence attached</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434C54"/>
                      </a:solidFill>
                      <a:prstDash val="solid"/>
                      <a:round/>
                      <a:headEnd type="none" w="med" len="med"/>
                      <a:tailEnd type="none" w="med" len="med"/>
                    </a:lnL>
                    <a:lnR w="12700" cap="flat" cmpd="sng" algn="ctr">
                      <a:solidFill>
                        <a:srgbClr val="434C54"/>
                      </a:solidFill>
                      <a:prstDash val="solid"/>
                      <a:round/>
                      <a:headEnd type="none" w="med" len="med"/>
                      <a:tailEnd type="none" w="med" len="med"/>
                    </a:lnR>
                    <a:lnT w="12700" cap="flat" cmpd="sng" algn="ctr">
                      <a:solidFill>
                        <a:srgbClr val="434C54"/>
                      </a:solidFill>
                      <a:prstDash val="solid"/>
                      <a:round/>
                      <a:headEnd type="none" w="med" len="med"/>
                      <a:tailEnd type="none" w="med" len="med"/>
                    </a:lnT>
                    <a:lnB w="12700" cap="flat" cmpd="sng" algn="ctr">
                      <a:solidFill>
                        <a:srgbClr val="434C54"/>
                      </a:solidFill>
                      <a:prstDash val="solid"/>
                      <a:round/>
                      <a:headEnd type="none" w="med" len="med"/>
                      <a:tailEnd type="none" w="med" len="med"/>
                    </a:lnB>
                  </a:tcPr>
                </a:tc>
              </a:tr>
              <a:tr h="385961">
                <a:tc>
                  <a:txBody>
                    <a:bodyPr/>
                    <a:lstStyle/>
                    <a:p>
                      <a:pPr indent="0" marL="0">
                        <a:lnSpc>
                          <a:spcPts val="1960"/>
                        </a:lnSpc>
                        <a:buNone/>
                      </a:pPr>
                      <a:r>
                        <a:rPr lang="en-US" sz="1400" dirty="0">
                          <a:solidFill>
                            <a:srgbClr val="F3EFE6"/>
                          </a:solidFill>
                          <a:latin typeface="IBM Plex Sans" pitchFamily="34" charset="0"/>
                          <a:ea typeface="IBM Plex Sans" pitchFamily="34" charset="-122"/>
                          <a:cs typeface="IBM Plex Sans" pitchFamily="34" charset="-120"/>
                        </a:rPr>
                        <a:t>Trade compliance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434C54"/>
                      </a:solidFill>
                      <a:prstDash val="solid"/>
                      <a:round/>
                      <a:headEnd type="none" w="med" len="med"/>
                      <a:tailEnd type="none" w="med" len="med"/>
                    </a:lnL>
                    <a:lnR w="12700" cap="flat" cmpd="sng" algn="ctr">
                      <a:solidFill>
                        <a:srgbClr val="434C54"/>
                      </a:solidFill>
                      <a:prstDash val="solid"/>
                      <a:round/>
                      <a:headEnd type="none" w="med" len="med"/>
                      <a:tailEnd type="none" w="med" len="med"/>
                    </a:lnR>
                    <a:lnT w="12700" cap="flat" cmpd="sng" algn="ctr">
                      <a:solidFill>
                        <a:srgbClr val="434C54"/>
                      </a:solidFill>
                      <a:prstDash val="solid"/>
                      <a:round/>
                      <a:headEnd type="none" w="med" len="med"/>
                      <a:tailEnd type="none" w="med" len="med"/>
                    </a:lnT>
                    <a:lnB w="12700" cap="flat" cmpd="sng" algn="ctr">
                      <a:solidFill>
                        <a:srgbClr val="434C54"/>
                      </a:solidFill>
                      <a:prstDash val="solid"/>
                      <a:round/>
                      <a:headEnd type="none" w="med" len="med"/>
                      <a:tailEnd type="none" w="med" len="med"/>
                    </a:lnB>
                  </a:tcPr>
                </a:tc>
                <a:tc>
                  <a:txBody>
                    <a:bodyPr/>
                    <a:lstStyle/>
                    <a:p>
                      <a:pPr indent="0" marL="0">
                        <a:lnSpc>
                          <a:spcPts val="1960"/>
                        </a:lnSpc>
                        <a:buNone/>
                      </a:pPr>
                      <a:r>
                        <a:rPr lang="en-US" sz="1400" dirty="0">
                          <a:solidFill>
                            <a:srgbClr val="B8C4CE"/>
                          </a:solidFill>
                          <a:latin typeface="IBM Plex Sans" pitchFamily="34" charset="0"/>
                          <a:ea typeface="IBM Plex Sans" pitchFamily="34" charset="-122"/>
                          <a:cs typeface="IBM Plex Sans" pitchFamily="34" charset="-120"/>
                        </a:rPr>
                        <a:t>Checks rules that live in PDFs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434C54"/>
                      </a:solidFill>
                      <a:prstDash val="solid"/>
                      <a:round/>
                      <a:headEnd type="none" w="med" len="med"/>
                      <a:tailEnd type="none" w="med" len="med"/>
                    </a:lnL>
                    <a:lnR w="12700" cap="flat" cmpd="sng" algn="ctr">
                      <a:solidFill>
                        <a:srgbClr val="434C54"/>
                      </a:solidFill>
                      <a:prstDash val="solid"/>
                      <a:round/>
                      <a:headEnd type="none" w="med" len="med"/>
                      <a:tailEnd type="none" w="med" len="med"/>
                    </a:lnR>
                    <a:lnT w="12700" cap="flat" cmpd="sng" algn="ctr">
                      <a:solidFill>
                        <a:srgbClr val="434C54"/>
                      </a:solidFill>
                      <a:prstDash val="solid"/>
                      <a:round/>
                      <a:headEnd type="none" w="med" len="med"/>
                      <a:tailEnd type="none" w="med" len="med"/>
                    </a:lnT>
                    <a:lnB w="12700" cap="flat" cmpd="sng" algn="ctr">
                      <a:solidFill>
                        <a:srgbClr val="434C54"/>
                      </a:solidFill>
                      <a:prstDash val="solid"/>
                      <a:round/>
                      <a:headEnd type="none" w="med" len="med"/>
                      <a:tailEnd type="none" w="med" len="med"/>
                    </a:lnB>
                  </a:tcPr>
                </a:tc>
                <a:tc>
                  <a:txBody>
                    <a:bodyPr/>
                    <a:lstStyle/>
                    <a:p>
                      <a:pPr indent="0" marL="0">
                        <a:lnSpc>
                          <a:spcPts val="1960"/>
                        </a:lnSpc>
                        <a:buNone/>
                      </a:pPr>
                      <a:r>
                        <a:rPr lang="en-US" sz="1400" dirty="0">
                          <a:solidFill>
                            <a:srgbClr val="F3EFE6"/>
                          </a:solidFill>
                          <a:latin typeface="IBM Plex Sans" pitchFamily="34" charset="0"/>
                          <a:ea typeface="IBM Plex Sans" pitchFamily="34" charset="-122"/>
                          <a:cs typeface="IBM Plex Sans" pitchFamily="34" charset="-120"/>
                        </a:rPr>
                        <a:t>Held orders get no supply; evidence kept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434C54"/>
                      </a:solidFill>
                      <a:prstDash val="solid"/>
                      <a:round/>
                      <a:headEnd type="none" w="med" len="med"/>
                      <a:tailEnd type="none" w="med" len="med"/>
                    </a:lnL>
                    <a:lnR w="12700" cap="flat" cmpd="sng" algn="ctr">
                      <a:solidFill>
                        <a:srgbClr val="434C54"/>
                      </a:solidFill>
                      <a:prstDash val="solid"/>
                      <a:round/>
                      <a:headEnd type="none" w="med" len="med"/>
                      <a:tailEnd type="none" w="med" len="med"/>
                    </a:lnR>
                    <a:lnT w="12700" cap="flat" cmpd="sng" algn="ctr">
                      <a:solidFill>
                        <a:srgbClr val="434C54"/>
                      </a:solidFill>
                      <a:prstDash val="solid"/>
                      <a:round/>
                      <a:headEnd type="none" w="med" len="med"/>
                      <a:tailEnd type="none" w="med" len="med"/>
                    </a:lnT>
                    <a:lnB w="12700" cap="flat" cmpd="sng" algn="ctr">
                      <a:solidFill>
                        <a:srgbClr val="434C54"/>
                      </a:solidFill>
                      <a:prstDash val="solid"/>
                      <a:round/>
                      <a:headEnd type="none" w="med" len="med"/>
                      <a:tailEnd type="none" w="med" len="med"/>
                    </a:lnB>
                  </a:tcPr>
                </a:tc>
              </a:tr>
              <a:tr h="385961">
                <a:tc>
                  <a:txBody>
                    <a:bodyPr/>
                    <a:lstStyle/>
                    <a:p>
                      <a:pPr indent="0" marL="0">
                        <a:lnSpc>
                          <a:spcPts val="1960"/>
                        </a:lnSpc>
                        <a:buNone/>
                      </a:pPr>
                      <a:r>
                        <a:rPr lang="en-US" sz="1400" dirty="0">
                          <a:solidFill>
                            <a:srgbClr val="F3EFE6"/>
                          </a:solidFill>
                          <a:latin typeface="IBM Plex Sans" pitchFamily="34" charset="0"/>
                          <a:ea typeface="IBM Plex Sans" pitchFamily="34" charset="-122"/>
                          <a:cs typeface="IBM Plex Sans" pitchFamily="34" charset="-120"/>
                        </a:rPr>
                        <a:t>Operations leader</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434C54"/>
                      </a:solidFill>
                      <a:prstDash val="solid"/>
                      <a:round/>
                      <a:headEnd type="none" w="med" len="med"/>
                      <a:tailEnd type="none" w="med" len="med"/>
                    </a:lnL>
                    <a:lnR w="12700" cap="flat" cmpd="sng" algn="ctr">
                      <a:solidFill>
                        <a:srgbClr val="434C54"/>
                      </a:solidFill>
                      <a:prstDash val="solid"/>
                      <a:round/>
                      <a:headEnd type="none" w="med" len="med"/>
                      <a:tailEnd type="none" w="med" len="med"/>
                    </a:lnR>
                    <a:lnT w="12700" cap="flat" cmpd="sng" algn="ctr">
                      <a:solidFill>
                        <a:srgbClr val="434C54"/>
                      </a:solidFill>
                      <a:prstDash val="solid"/>
                      <a:round/>
                      <a:headEnd type="none" w="med" len="med"/>
                      <a:tailEnd type="none" w="med" len="med"/>
                    </a:lnT>
                    <a:lnB w="12700" cap="flat" cmpd="sng" algn="ctr">
                      <a:solidFill>
                        <a:srgbClr val="434C54"/>
                      </a:solidFill>
                      <a:prstDash val="solid"/>
                      <a:round/>
                      <a:headEnd type="none" w="med" len="med"/>
                      <a:tailEnd type="none" w="med" len="med"/>
                    </a:lnB>
                  </a:tcPr>
                </a:tc>
                <a:tc>
                  <a:txBody>
                    <a:bodyPr/>
                    <a:lstStyle/>
                    <a:p>
                      <a:pPr indent="0" marL="0">
                        <a:lnSpc>
                          <a:spcPts val="1960"/>
                        </a:lnSpc>
                        <a:buNone/>
                      </a:pPr>
                      <a:r>
                        <a:rPr lang="en-US" sz="1400" dirty="0">
                          <a:solidFill>
                            <a:srgbClr val="B8C4CE"/>
                          </a:solidFill>
                          <a:latin typeface="IBM Plex Sans" pitchFamily="34" charset="0"/>
                          <a:ea typeface="IBM Plex Sans" pitchFamily="34" charset="-122"/>
                          <a:cs typeface="IBM Plex Sans" pitchFamily="34" charset="-120"/>
                        </a:rPr>
                        <a:t>Approves over email threads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434C54"/>
                      </a:solidFill>
                      <a:prstDash val="solid"/>
                      <a:round/>
                      <a:headEnd type="none" w="med" len="med"/>
                      <a:tailEnd type="none" w="med" len="med"/>
                    </a:lnL>
                    <a:lnR w="12700" cap="flat" cmpd="sng" algn="ctr">
                      <a:solidFill>
                        <a:srgbClr val="434C54"/>
                      </a:solidFill>
                      <a:prstDash val="solid"/>
                      <a:round/>
                      <a:headEnd type="none" w="med" len="med"/>
                      <a:tailEnd type="none" w="med" len="med"/>
                    </a:lnR>
                    <a:lnT w="12700" cap="flat" cmpd="sng" algn="ctr">
                      <a:solidFill>
                        <a:srgbClr val="434C54"/>
                      </a:solidFill>
                      <a:prstDash val="solid"/>
                      <a:round/>
                      <a:headEnd type="none" w="med" len="med"/>
                      <a:tailEnd type="none" w="med" len="med"/>
                    </a:lnT>
                    <a:lnB w="12700" cap="flat" cmpd="sng" algn="ctr">
                      <a:solidFill>
                        <a:srgbClr val="434C54"/>
                      </a:solidFill>
                      <a:prstDash val="solid"/>
                      <a:round/>
                      <a:headEnd type="none" w="med" len="med"/>
                      <a:tailEnd type="none" w="med" len="med"/>
                    </a:lnB>
                  </a:tcPr>
                </a:tc>
                <a:tc>
                  <a:txBody>
                    <a:bodyPr/>
                    <a:lstStyle/>
                    <a:p>
                      <a:pPr indent="0" marL="0">
                        <a:lnSpc>
                          <a:spcPts val="1960"/>
                        </a:lnSpc>
                        <a:buNone/>
                      </a:pPr>
                      <a:r>
                        <a:rPr lang="en-US" sz="1400" dirty="0">
                          <a:solidFill>
                            <a:srgbClr val="F3EFE6"/>
                          </a:solidFill>
                          <a:latin typeface="IBM Plex Sans" pitchFamily="34" charset="0"/>
                          <a:ea typeface="IBM Plex Sans" pitchFamily="34" charset="-122"/>
                          <a:cs typeface="IBM Plex Sans" pitchFamily="34" charset="-120"/>
                        </a:rPr>
                        <a:t>Four-eyes approval per role, logged</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434C54"/>
                      </a:solidFill>
                      <a:prstDash val="solid"/>
                      <a:round/>
                      <a:headEnd type="none" w="med" len="med"/>
                      <a:tailEnd type="none" w="med" len="med"/>
                    </a:lnL>
                    <a:lnR w="12700" cap="flat" cmpd="sng" algn="ctr">
                      <a:solidFill>
                        <a:srgbClr val="434C54"/>
                      </a:solidFill>
                      <a:prstDash val="solid"/>
                      <a:round/>
                      <a:headEnd type="none" w="med" len="med"/>
                      <a:tailEnd type="none" w="med" len="med"/>
                    </a:lnR>
                    <a:lnT w="12700" cap="flat" cmpd="sng" algn="ctr">
                      <a:solidFill>
                        <a:srgbClr val="434C54"/>
                      </a:solidFill>
                      <a:prstDash val="solid"/>
                      <a:round/>
                      <a:headEnd type="none" w="med" len="med"/>
                      <a:tailEnd type="none" w="med" len="med"/>
                    </a:lnT>
                    <a:lnB w="12700" cap="flat" cmpd="sng" algn="ctr">
                      <a:solidFill>
                        <a:srgbClr val="434C54"/>
                      </a:solidFill>
                      <a:prstDash val="solid"/>
                      <a:round/>
                      <a:headEnd type="none" w="med" len="med"/>
                      <a:tailEnd type="none" w="med" len="med"/>
                    </a:lnB>
                  </a:tcPr>
                </a:tc>
              </a:tr>
              <a:tr h="385961">
                <a:tc>
                  <a:txBody>
                    <a:bodyPr/>
                    <a:lstStyle/>
                    <a:p>
                      <a:pPr indent="0" marL="0">
                        <a:lnSpc>
                          <a:spcPts val="1960"/>
                        </a:lnSpc>
                        <a:buNone/>
                      </a:pPr>
                      <a:r>
                        <a:rPr lang="en-US" sz="1400" dirty="0">
                          <a:solidFill>
                            <a:srgbClr val="F3EFE6"/>
                          </a:solidFill>
                          <a:latin typeface="IBM Plex Sans" pitchFamily="34" charset="0"/>
                          <a:ea typeface="IBM Plex Sans" pitchFamily="34" charset="-122"/>
                          <a:cs typeface="IBM Plex Sans" pitchFamily="34" charset="-120"/>
                        </a:rPr>
                        <a:t>Executive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434C54"/>
                      </a:solidFill>
                      <a:prstDash val="solid"/>
                      <a:round/>
                      <a:headEnd type="none" w="med" len="med"/>
                      <a:tailEnd type="none" w="med" len="med"/>
                    </a:lnL>
                    <a:lnR w="12700" cap="flat" cmpd="sng" algn="ctr">
                      <a:solidFill>
                        <a:srgbClr val="434C54"/>
                      </a:solidFill>
                      <a:prstDash val="solid"/>
                      <a:round/>
                      <a:headEnd type="none" w="med" len="med"/>
                      <a:tailEnd type="none" w="med" len="med"/>
                    </a:lnR>
                    <a:lnT w="12700" cap="flat" cmpd="sng" algn="ctr">
                      <a:solidFill>
                        <a:srgbClr val="434C54"/>
                      </a:solidFill>
                      <a:prstDash val="solid"/>
                      <a:round/>
                      <a:headEnd type="none" w="med" len="med"/>
                      <a:tailEnd type="none" w="med" len="med"/>
                    </a:lnT>
                    <a:lnB w="12700" cap="flat" cmpd="sng" algn="ctr">
                      <a:solidFill>
                        <a:srgbClr val="434C54"/>
                      </a:solidFill>
                      <a:prstDash val="solid"/>
                      <a:round/>
                      <a:headEnd type="none" w="med" len="med"/>
                      <a:tailEnd type="none" w="med" len="med"/>
                    </a:lnB>
                  </a:tcPr>
                </a:tc>
                <a:tc>
                  <a:txBody>
                    <a:bodyPr/>
                    <a:lstStyle/>
                    <a:p>
                      <a:pPr indent="0" marL="0">
                        <a:lnSpc>
                          <a:spcPts val="1960"/>
                        </a:lnSpc>
                        <a:buNone/>
                      </a:pPr>
                      <a:r>
                        <a:rPr lang="en-US" sz="1400" dirty="0">
                          <a:solidFill>
                            <a:srgbClr val="B8C4CE"/>
                          </a:solidFill>
                          <a:latin typeface="IBM Plex Sans" pitchFamily="34" charset="0"/>
                          <a:ea typeface="IBM Plex Sans" pitchFamily="34" charset="-122"/>
                          <a:cs typeface="IBM Plex Sans" pitchFamily="34" charset="-120"/>
                        </a:rPr>
                        <a:t>Learns the exposure after the quarter</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434C54"/>
                      </a:solidFill>
                      <a:prstDash val="solid"/>
                      <a:round/>
                      <a:headEnd type="none" w="med" len="med"/>
                      <a:tailEnd type="none" w="med" len="med"/>
                    </a:lnL>
                    <a:lnR w="12700" cap="flat" cmpd="sng" algn="ctr">
                      <a:solidFill>
                        <a:srgbClr val="434C54"/>
                      </a:solidFill>
                      <a:prstDash val="solid"/>
                      <a:round/>
                      <a:headEnd type="none" w="med" len="med"/>
                      <a:tailEnd type="none" w="med" len="med"/>
                    </a:lnR>
                    <a:lnT w="12700" cap="flat" cmpd="sng" algn="ctr">
                      <a:solidFill>
                        <a:srgbClr val="434C54"/>
                      </a:solidFill>
                      <a:prstDash val="solid"/>
                      <a:round/>
                      <a:headEnd type="none" w="med" len="med"/>
                      <a:tailEnd type="none" w="med" len="med"/>
                    </a:lnT>
                    <a:lnB w="12700" cap="flat" cmpd="sng" algn="ctr">
                      <a:solidFill>
                        <a:srgbClr val="434C54"/>
                      </a:solidFill>
                      <a:prstDash val="solid"/>
                      <a:round/>
                      <a:headEnd type="none" w="med" len="med"/>
                      <a:tailEnd type="none" w="med" len="med"/>
                    </a:lnB>
                  </a:tcPr>
                </a:tc>
                <a:tc>
                  <a:txBody>
                    <a:bodyPr/>
                    <a:lstStyle/>
                    <a:p>
                      <a:pPr indent="0" marL="0">
                        <a:lnSpc>
                          <a:spcPts val="1960"/>
                        </a:lnSpc>
                        <a:buNone/>
                      </a:pPr>
                      <a:r>
                        <a:rPr lang="en-US" sz="1400" dirty="0">
                          <a:solidFill>
                            <a:srgbClr val="F3EFE6"/>
                          </a:solidFill>
                          <a:latin typeface="IBM Plex Sans" pitchFamily="34" charset="0"/>
                          <a:ea typeface="IBM Plex Sans" pitchFamily="34" charset="-122"/>
                          <a:cs typeface="IBM Plex Sans" pitchFamily="34" charset="-120"/>
                        </a:rPr>
                        <a:t>Revenue at risk per incident, on day one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434C54"/>
                      </a:solidFill>
                      <a:prstDash val="solid"/>
                      <a:round/>
                      <a:headEnd type="none" w="med" len="med"/>
                      <a:tailEnd type="none" w="med" len="med"/>
                    </a:lnL>
                    <a:lnR w="12700" cap="flat" cmpd="sng" algn="ctr">
                      <a:solidFill>
                        <a:srgbClr val="434C54"/>
                      </a:solidFill>
                      <a:prstDash val="solid"/>
                      <a:round/>
                      <a:headEnd type="none" w="med" len="med"/>
                      <a:tailEnd type="none" w="med" len="med"/>
                    </a:lnR>
                    <a:lnT w="12700" cap="flat" cmpd="sng" algn="ctr">
                      <a:solidFill>
                        <a:srgbClr val="434C54"/>
                      </a:solidFill>
                      <a:prstDash val="solid"/>
                      <a:round/>
                      <a:headEnd type="none" w="med" len="med"/>
                      <a:tailEnd type="none" w="med" len="med"/>
                    </a:lnT>
                    <a:lnB w="12700" cap="flat" cmpd="sng" algn="ctr">
                      <a:solidFill>
                        <a:srgbClr val="434C54"/>
                      </a:solidFill>
                      <a:prstDash val="solid"/>
                      <a:round/>
                      <a:headEnd type="none" w="med" len="med"/>
                      <a:tailEnd type="none" w="med" len="med"/>
                    </a:lnB>
                  </a:tcPr>
                </a:tc>
              </a:tr>
              <a:tr h="385961">
                <a:tc>
                  <a:txBody>
                    <a:bodyPr/>
                    <a:lstStyle/>
                    <a:p>
                      <a:pPr indent="0" marL="0">
                        <a:lnSpc>
                          <a:spcPts val="1960"/>
                        </a:lnSpc>
                        <a:buNone/>
                      </a:pPr>
                      <a:r>
                        <a:rPr lang="en-US" sz="1400" dirty="0">
                          <a:solidFill>
                            <a:srgbClr val="F3EFE6"/>
                          </a:solidFill>
                          <a:latin typeface="IBM Plex Sans" pitchFamily="34" charset="0"/>
                          <a:ea typeface="IBM Plex Sans" pitchFamily="34" charset="-122"/>
                          <a:cs typeface="IBM Plex Sans" pitchFamily="34" charset="-120"/>
                        </a:rPr>
                        <a:t>Supplier</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434C54"/>
                      </a:solidFill>
                      <a:prstDash val="solid"/>
                      <a:round/>
                      <a:headEnd type="none" w="med" len="med"/>
                      <a:tailEnd type="none" w="med" len="med"/>
                    </a:lnL>
                    <a:lnR w="12700" cap="flat" cmpd="sng" algn="ctr">
                      <a:solidFill>
                        <a:srgbClr val="434C54"/>
                      </a:solidFill>
                      <a:prstDash val="solid"/>
                      <a:round/>
                      <a:headEnd type="none" w="med" len="med"/>
                      <a:tailEnd type="none" w="med" len="med"/>
                    </a:lnR>
                    <a:lnT w="12700" cap="flat" cmpd="sng" algn="ctr">
                      <a:solidFill>
                        <a:srgbClr val="434C54"/>
                      </a:solidFill>
                      <a:prstDash val="solid"/>
                      <a:round/>
                      <a:headEnd type="none" w="med" len="med"/>
                      <a:tailEnd type="none" w="med" len="med"/>
                    </a:lnT>
                    <a:lnB w="12700" cap="flat" cmpd="sng" algn="ctr">
                      <a:solidFill>
                        <a:srgbClr val="434C54"/>
                      </a:solidFill>
                      <a:prstDash val="solid"/>
                      <a:round/>
                      <a:headEnd type="none" w="med" len="med"/>
                      <a:tailEnd type="none" w="med" len="med"/>
                    </a:lnB>
                  </a:tcPr>
                </a:tc>
                <a:tc>
                  <a:txBody>
                    <a:bodyPr/>
                    <a:lstStyle/>
                    <a:p>
                      <a:pPr indent="0" marL="0">
                        <a:lnSpc>
                          <a:spcPts val="1960"/>
                        </a:lnSpc>
                        <a:buNone/>
                      </a:pPr>
                      <a:r>
                        <a:rPr lang="en-US" sz="1400" dirty="0">
                          <a:solidFill>
                            <a:srgbClr val="B8C4CE"/>
                          </a:solidFill>
                          <a:latin typeface="IBM Plex Sans" pitchFamily="34" charset="0"/>
                          <a:ea typeface="IBM Plex Sans" pitchFamily="34" charset="-122"/>
                          <a:cs typeface="IBM Plex Sans" pitchFamily="34" charset="-120"/>
                        </a:rPr>
                        <a:t>Confirms by email, disputed later</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434C54"/>
                      </a:solidFill>
                      <a:prstDash val="solid"/>
                      <a:round/>
                      <a:headEnd type="none" w="med" len="med"/>
                      <a:tailEnd type="none" w="med" len="med"/>
                    </a:lnL>
                    <a:lnR w="12700" cap="flat" cmpd="sng" algn="ctr">
                      <a:solidFill>
                        <a:srgbClr val="434C54"/>
                      </a:solidFill>
                      <a:prstDash val="solid"/>
                      <a:round/>
                      <a:headEnd type="none" w="med" len="med"/>
                      <a:tailEnd type="none" w="med" len="med"/>
                    </a:lnR>
                    <a:lnT w="12700" cap="flat" cmpd="sng" algn="ctr">
                      <a:solidFill>
                        <a:srgbClr val="434C54"/>
                      </a:solidFill>
                      <a:prstDash val="solid"/>
                      <a:round/>
                      <a:headEnd type="none" w="med" len="med"/>
                      <a:tailEnd type="none" w="med" len="med"/>
                    </a:lnT>
                    <a:lnB w="12700" cap="flat" cmpd="sng" algn="ctr">
                      <a:solidFill>
                        <a:srgbClr val="434C54"/>
                      </a:solidFill>
                      <a:prstDash val="solid"/>
                      <a:round/>
                      <a:headEnd type="none" w="med" len="med"/>
                      <a:tailEnd type="none" w="med" len="med"/>
                    </a:lnB>
                  </a:tcPr>
                </a:tc>
                <a:tc>
                  <a:txBody>
                    <a:bodyPr/>
                    <a:lstStyle/>
                    <a:p>
                      <a:pPr indent="0" marL="0">
                        <a:lnSpc>
                          <a:spcPts val="1960"/>
                        </a:lnSpc>
                        <a:buNone/>
                      </a:pPr>
                      <a:r>
                        <a:rPr lang="en-US" sz="1400" dirty="0">
                          <a:solidFill>
                            <a:srgbClr val="F3EFE6"/>
                          </a:solidFill>
                          <a:latin typeface="IBM Plex Sans" pitchFamily="34" charset="0"/>
                          <a:ea typeface="IBM Plex Sans" pitchFamily="34" charset="-122"/>
                          <a:cs typeface="IBM Plex Sans" pitchFamily="34" charset="-120"/>
                        </a:rPr>
                        <a:t>Confirmations become recorded facts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434C54"/>
                      </a:solidFill>
                      <a:prstDash val="solid"/>
                      <a:round/>
                      <a:headEnd type="none" w="med" len="med"/>
                      <a:tailEnd type="none" w="med" len="med"/>
                    </a:lnL>
                    <a:lnR w="12700" cap="flat" cmpd="sng" algn="ctr">
                      <a:solidFill>
                        <a:srgbClr val="434C54"/>
                      </a:solidFill>
                      <a:prstDash val="solid"/>
                      <a:round/>
                      <a:headEnd type="none" w="med" len="med"/>
                      <a:tailEnd type="none" w="med" len="med"/>
                    </a:lnR>
                    <a:lnT w="12700" cap="flat" cmpd="sng" algn="ctr">
                      <a:solidFill>
                        <a:srgbClr val="434C54"/>
                      </a:solidFill>
                      <a:prstDash val="solid"/>
                      <a:round/>
                      <a:headEnd type="none" w="med" len="med"/>
                      <a:tailEnd type="none" w="med" len="med"/>
                    </a:lnT>
                    <a:lnB w="12700" cap="flat" cmpd="sng" algn="ctr">
                      <a:solidFill>
                        <a:srgbClr val="434C54"/>
                      </a:solidFill>
                      <a:prstDash val="solid"/>
                      <a:round/>
                      <a:headEnd type="none" w="med" len="med"/>
                      <a:tailEnd type="none" w="med" len="med"/>
                    </a:lnB>
                  </a:tcPr>
                </a:tc>
              </a:tr>
            </a:tbl>
          </a:graphicData>
        </a:graphic>
      </p:graphicFrame>
      <p:sp>
        <p:nvSpPr>
          <p:cNvPr id="5" name="Text 2"/>
          <p:cNvSpPr/>
          <p:nvPr/>
        </p:nvSpPr>
        <p:spPr>
          <a:xfrm>
            <a:off x="812800" y="6238280"/>
            <a:ext cx="155805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A0AD"/>
                </a:solidFill>
                <a:latin typeface="IBM Plex Sans" pitchFamily="34" charset="0"/>
                <a:ea typeface="IBM Plex Sans" pitchFamily="34" charset="-122"/>
                <a:cs typeface="IBM Plex Sans" pitchFamily="34" charset="-120"/>
              </a:rPr>
              <a:t>Who we sell to · 14</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3EFE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9A5B08"/>
                </a:solidFill>
                <a:latin typeface="IBM Plex Sans" pitchFamily="34" charset="0"/>
                <a:ea typeface="IBM Plex Sans" pitchFamily="34" charset="-122"/>
                <a:cs typeface="IBM Plex Sans" pitchFamily="34" charset="-120"/>
              </a:rPr>
              <a:t>WHO WE SELL TO · IMPACT METRICS</a:t>
            </a:r>
            <a:endParaRPr lang="en-US" sz="1200" dirty="0"/>
          </a:p>
        </p:txBody>
      </p:sp>
      <p:sp>
        <p:nvSpPr>
          <p:cNvPr id="3" name="Text 1"/>
          <p:cNvSpPr/>
          <p:nvPr>
            <p:ph type="title"/>
          </p:nvPr>
        </p:nvSpPr>
        <p:spPr>
          <a:xfrm>
            <a:off x="812800" y="1280120"/>
            <a:ext cx="10883392" cy="4723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2B"/>
                </a:solidFill>
                <a:latin typeface="Space Grotesk" pitchFamily="34" charset="0"/>
                <a:ea typeface="Space Grotesk" pitchFamily="34" charset="-122"/>
                <a:cs typeface="Space Grotesk" pitchFamily="34" charset="-120"/>
              </a:rPr>
              <a:t>The metrics every customer pilot is measured on</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993801"/>
          <a:ext cx="10553700" cy="3087688"/>
        </p:xfrm>
        <a:graphic>
          <a:graphicData uri="http://schemas.openxmlformats.org/drawingml/2006/table">
            <a:tbl>
              <a:tblPr/>
              <a:tblGrid>
                <a:gridCol w="3482721"/>
                <a:gridCol w="2849499"/>
                <a:gridCol w="2110740"/>
                <a:gridCol w="2110740"/>
              </a:tblGrid>
              <a:tr h="385961">
                <a:tc>
                  <a:txBody>
                    <a:bodyPr/>
                    <a:lstStyle/>
                    <a:p>
                      <a:pPr indent="0" marL="0">
                        <a:lnSpc>
                          <a:spcPts val="1960"/>
                        </a:lnSpc>
                        <a:buNone/>
                      </a:pPr>
                      <a:r>
                        <a:rPr lang="en-US" sz="1400" b="1" dirty="0">
                          <a:solidFill>
                            <a:srgbClr val="14212B"/>
                          </a:solidFill>
                          <a:latin typeface="IBM Plex Sans" pitchFamily="34" charset="0"/>
                          <a:ea typeface="IBM Plex Sans" pitchFamily="34" charset="-122"/>
                          <a:cs typeface="IBM Plex Sans" pitchFamily="34" charset="-120"/>
                        </a:rPr>
                        <a:t>Metric</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2BFB8"/>
                      </a:solidFill>
                      <a:prstDash val="solid"/>
                      <a:round/>
                      <a:headEnd type="none" w="med" len="med"/>
                      <a:tailEnd type="none" w="med" len="med"/>
                    </a:lnL>
                    <a:lnR w="12700" cap="flat" cmpd="sng" algn="ctr">
                      <a:solidFill>
                        <a:srgbClr val="B4B1AA"/>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4B1AA"/>
                      </a:solidFill>
                      <a:prstDash val="solid"/>
                      <a:round/>
                      <a:headEnd type="none" w="med" len="med"/>
                      <a:tailEnd type="none" w="med" len="med"/>
                    </a:lnB>
                    <a:solidFill>
                      <a:srgbClr val="E1DDD5"/>
                    </a:solidFill>
                  </a:tcPr>
                </a:tc>
                <a:tc>
                  <a:txBody>
                    <a:bodyPr/>
                    <a:lstStyle/>
                    <a:p>
                      <a:pPr indent="0" marL="0">
                        <a:lnSpc>
                          <a:spcPts val="1960"/>
                        </a:lnSpc>
                        <a:buNone/>
                      </a:pPr>
                      <a:r>
                        <a:rPr lang="en-US" sz="1400" b="1" dirty="0">
                          <a:solidFill>
                            <a:srgbClr val="14212B"/>
                          </a:solidFill>
                          <a:latin typeface="IBM Plex Sans" pitchFamily="34" charset="0"/>
                          <a:ea typeface="IBM Plex Sans" pitchFamily="34" charset="-122"/>
                          <a:cs typeface="IBM Plex Sans" pitchFamily="34" charset="-120"/>
                        </a:rPr>
                        <a:t>Matters most to</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4B1AA"/>
                      </a:solidFill>
                      <a:prstDash val="solid"/>
                      <a:round/>
                      <a:headEnd type="none" w="med" len="med"/>
                      <a:tailEnd type="none" w="med" len="med"/>
                    </a:lnL>
                    <a:lnR w="12700" cap="flat" cmpd="sng" algn="ctr">
                      <a:solidFill>
                        <a:srgbClr val="B4B1AA"/>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4B1AA"/>
                      </a:solidFill>
                      <a:prstDash val="solid"/>
                      <a:round/>
                      <a:headEnd type="none" w="med" len="med"/>
                      <a:tailEnd type="none" w="med" len="med"/>
                    </a:lnB>
                    <a:solidFill>
                      <a:srgbClr val="E1DDD5"/>
                    </a:solidFill>
                  </a:tcPr>
                </a:tc>
                <a:tc>
                  <a:txBody>
                    <a:bodyPr/>
                    <a:lstStyle/>
                    <a:p>
                      <a:pPr indent="0" marL="0">
                        <a:lnSpc>
                          <a:spcPts val="1960"/>
                        </a:lnSpc>
                        <a:buNone/>
                      </a:pPr>
                      <a:r>
                        <a:rPr lang="en-US" sz="1400" b="1" dirty="0">
                          <a:solidFill>
                            <a:srgbClr val="14212B"/>
                          </a:solidFill>
                          <a:latin typeface="IBM Plex Sans" pitchFamily="34" charset="0"/>
                          <a:ea typeface="IBM Plex Sans" pitchFamily="34" charset="-122"/>
                          <a:cs typeface="IBM Plex Sans" pitchFamily="34" charset="-120"/>
                        </a:rPr>
                        <a:t>Demo result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4B1AA"/>
                      </a:solidFill>
                      <a:prstDash val="solid"/>
                      <a:round/>
                      <a:headEnd type="none" w="med" len="med"/>
                      <a:tailEnd type="none" w="med" len="med"/>
                    </a:lnL>
                    <a:lnR w="12700" cap="flat" cmpd="sng" algn="ctr">
                      <a:solidFill>
                        <a:srgbClr val="B4B1AA"/>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4B1AA"/>
                      </a:solidFill>
                      <a:prstDash val="solid"/>
                      <a:round/>
                      <a:headEnd type="none" w="med" len="med"/>
                      <a:tailEnd type="none" w="med" len="med"/>
                    </a:lnB>
                    <a:solidFill>
                      <a:srgbClr val="E1DDD5"/>
                    </a:solidFill>
                  </a:tcPr>
                </a:tc>
                <a:tc>
                  <a:txBody>
                    <a:bodyPr/>
                    <a:lstStyle/>
                    <a:p>
                      <a:pPr indent="0" marL="0">
                        <a:lnSpc>
                          <a:spcPts val="1960"/>
                        </a:lnSpc>
                        <a:buNone/>
                      </a:pPr>
                      <a:r>
                        <a:rPr lang="en-US" sz="1400" b="1" dirty="0">
                          <a:solidFill>
                            <a:srgbClr val="14212B"/>
                          </a:solidFill>
                          <a:latin typeface="IBM Plex Sans" pitchFamily="34" charset="0"/>
                          <a:ea typeface="IBM Plex Sans" pitchFamily="34" charset="-122"/>
                          <a:cs typeface="IBM Plex Sans" pitchFamily="34" charset="-120"/>
                        </a:rPr>
                        <a:t>Pilot target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4B1AA"/>
                      </a:solidFill>
                      <a:prstDash val="solid"/>
                      <a:round/>
                      <a:headEnd type="none" w="med" len="med"/>
                      <a:tailEnd type="none" w="med" len="med"/>
                    </a:lnL>
                    <a:lnR w="12700" cap="flat" cmpd="sng" algn="ctr">
                      <a:solidFill>
                        <a:srgbClr val="B4B1AA"/>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4B1AA"/>
                      </a:solidFill>
                      <a:prstDash val="solid"/>
                      <a:round/>
                      <a:headEnd type="none" w="med" len="med"/>
                      <a:tailEnd type="none" w="med" len="med"/>
                    </a:lnB>
                    <a:solidFill>
                      <a:srgbClr val="E1DDD5"/>
                    </a:solidFill>
                  </a:tcPr>
                </a:tc>
              </a:tr>
              <a:tr h="385961">
                <a:tc>
                  <a:txBody>
                    <a:bodyPr/>
                    <a:lstStyle/>
                    <a:p>
                      <a:pPr indent="0" marL="0">
                        <a:lnSpc>
                          <a:spcPts val="1960"/>
                        </a:lnSpc>
                        <a:buNone/>
                      </a:pPr>
                      <a:r>
                        <a:rPr lang="en-US" sz="1400" dirty="0">
                          <a:solidFill>
                            <a:srgbClr val="14212B"/>
                          </a:solidFill>
                          <a:latin typeface="IBM Plex Sans" pitchFamily="34" charset="0"/>
                          <a:ea typeface="IBM Plex Sans" pitchFamily="34" charset="-122"/>
                          <a:cs typeface="IBM Plex Sans" pitchFamily="34" charset="-120"/>
                        </a:rPr>
                        <a:t>Event to ranked plan</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4B1AA"/>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indent="0" marL="0">
                        <a:lnSpc>
                          <a:spcPts val="1960"/>
                        </a:lnSpc>
                        <a:buNone/>
                      </a:pPr>
                      <a:r>
                        <a:rPr lang="en-US" sz="1400" dirty="0">
                          <a:solidFill>
                            <a:srgbClr val="14212B"/>
                          </a:solidFill>
                          <a:latin typeface="IBM Plex Sans" pitchFamily="34" charset="0"/>
                          <a:ea typeface="IBM Plex Sans" pitchFamily="34" charset="-122"/>
                          <a:cs typeface="IBM Plex Sans" pitchFamily="34" charset="-120"/>
                        </a:rPr>
                        <a:t>Planners, all segments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4B1AA"/>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indent="0" marL="0">
                        <a:lnSpc>
                          <a:spcPts val="1960"/>
                        </a:lnSpc>
                        <a:buNone/>
                      </a:pPr>
                      <a:r>
                        <a:rPr lang="en-US" sz="1400" dirty="0">
                          <a:solidFill>
                            <a:srgbClr val="14212B"/>
                          </a:solidFill>
                          <a:latin typeface="IBM Plex Sans" pitchFamily="34" charset="0"/>
                          <a:ea typeface="IBM Plex Sans" pitchFamily="34" charset="-122"/>
                          <a:cs typeface="IBM Plex Sans" pitchFamily="34" charset="-120"/>
                        </a:rPr>
                        <a:t>15 seconds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4B1AA"/>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indent="0" marL="0">
                        <a:lnSpc>
                          <a:spcPts val="1960"/>
                        </a:lnSpc>
                        <a:buNone/>
                      </a:pPr>
                      <a:r>
                        <a:rPr lang="en-US" sz="1400" dirty="0">
                          <a:solidFill>
                            <a:srgbClr val="14212B"/>
                          </a:solidFill>
                          <a:latin typeface="IBM Plex Sans" pitchFamily="34" charset="0"/>
                          <a:ea typeface="IBM Plex Sans" pitchFamily="34" charset="-122"/>
                          <a:cs typeface="IBM Plex Sans" pitchFamily="34" charset="-120"/>
                        </a:rPr>
                        <a:t>[__ min]</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4B1AA"/>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r>
              <a:tr h="385961">
                <a:tc>
                  <a:txBody>
                    <a:bodyPr/>
                    <a:lstStyle/>
                    <a:p>
                      <a:pPr indent="0" marL="0">
                        <a:lnSpc>
                          <a:spcPts val="1960"/>
                        </a:lnSpc>
                        <a:buNone/>
                      </a:pPr>
                      <a:r>
                        <a:rPr lang="en-US" sz="1400" dirty="0">
                          <a:solidFill>
                            <a:srgbClr val="14212B"/>
                          </a:solidFill>
                          <a:latin typeface="IBM Plex Sans" pitchFamily="34" charset="0"/>
                          <a:ea typeface="IBM Plex Sans" pitchFamily="34" charset="-122"/>
                          <a:cs typeface="IBM Plex Sans" pitchFamily="34" charset="-120"/>
                        </a:rPr>
                        <a:t>On-time units protected</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indent="0" marL="0">
                        <a:lnSpc>
                          <a:spcPts val="1960"/>
                        </a:lnSpc>
                        <a:buNone/>
                      </a:pPr>
                      <a:r>
                        <a:rPr lang="en-US" sz="1400" dirty="0">
                          <a:solidFill>
                            <a:srgbClr val="14212B"/>
                          </a:solidFill>
                          <a:latin typeface="IBM Plex Sans" pitchFamily="34" charset="0"/>
                          <a:ea typeface="IBM Plex Sans" pitchFamily="34" charset="-122"/>
                          <a:cs typeface="IBM Plex Sans" pitchFamily="34" charset="-120"/>
                        </a:rPr>
                        <a:t>OEMs, fabless, hyperscalers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indent="0" marL="0">
                        <a:lnSpc>
                          <a:spcPts val="1960"/>
                        </a:lnSpc>
                        <a:buNone/>
                      </a:pPr>
                      <a:r>
                        <a:rPr lang="en-US" sz="1400" dirty="0">
                          <a:solidFill>
                            <a:srgbClr val="14212B"/>
                          </a:solidFill>
                          <a:latin typeface="IBM Plex Sans" pitchFamily="34" charset="0"/>
                          <a:ea typeface="IBM Plex Sans" pitchFamily="34" charset="-122"/>
                          <a:cs typeface="IBM Plex Sans" pitchFamily="34" charset="-120"/>
                        </a:rPr>
                        <a:t>9,410 units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indent="0" marL="0">
                        <a:lnSpc>
                          <a:spcPts val="1960"/>
                        </a:lnSpc>
                        <a:buNone/>
                      </a:pPr>
                      <a:r>
                        <a:rPr lang="en-US" sz="1400" dirty="0">
                          <a:solidFill>
                            <a:srgbClr val="14212B"/>
                          </a:solidFill>
                          <a:latin typeface="IBM Plex Sans" pitchFamily="34" charset="0"/>
                          <a:ea typeface="IBM Plex Sans" pitchFamily="34" charset="-122"/>
                          <a:cs typeface="IBM Plex Sans" pitchFamily="34" charset="-120"/>
                        </a:rPr>
                        <a:t>[__%] of at-risk</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r>
              <a:tr h="385961">
                <a:tc>
                  <a:txBody>
                    <a:bodyPr/>
                    <a:lstStyle/>
                    <a:p>
                      <a:pPr indent="0" marL="0">
                        <a:lnSpc>
                          <a:spcPts val="1960"/>
                        </a:lnSpc>
                        <a:buNone/>
                      </a:pPr>
                      <a:r>
                        <a:rPr lang="en-US" sz="1400" dirty="0">
                          <a:solidFill>
                            <a:srgbClr val="14212B"/>
                          </a:solidFill>
                          <a:latin typeface="IBM Plex Sans" pitchFamily="34" charset="0"/>
                          <a:ea typeface="IBM Plex Sans" pitchFamily="34" charset="-122"/>
                          <a:cs typeface="IBM Plex Sans" pitchFamily="34" charset="-120"/>
                        </a:rPr>
                        <a:t>Exposure surfaced</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indent="0" marL="0">
                        <a:lnSpc>
                          <a:spcPts val="1960"/>
                        </a:lnSpc>
                        <a:buNone/>
                      </a:pPr>
                      <a:r>
                        <a:rPr lang="en-US" sz="1400" dirty="0">
                          <a:solidFill>
                            <a:srgbClr val="14212B"/>
                          </a:solidFill>
                          <a:latin typeface="IBM Plex Sans" pitchFamily="34" charset="0"/>
                          <a:ea typeface="IBM Plex Sans" pitchFamily="34" charset="-122"/>
                          <a:cs typeface="IBM Plex Sans" pitchFamily="34" charset="-120"/>
                        </a:rPr>
                        <a:t>Executives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indent="0" marL="0">
                        <a:lnSpc>
                          <a:spcPts val="1960"/>
                        </a:lnSpc>
                        <a:buNone/>
                      </a:pPr>
                      <a:r>
                        <a:rPr lang="en-US" sz="1400" dirty="0">
                          <a:solidFill>
                            <a:srgbClr val="14212B"/>
                          </a:solidFill>
                          <a:latin typeface="IBM Plex Sans" pitchFamily="34" charset="0"/>
                          <a:ea typeface="IBM Plex Sans" pitchFamily="34" charset="-122"/>
                          <a:cs typeface="IBM Plex Sans" pitchFamily="34" charset="-120"/>
                        </a:rPr>
                        <a:t>$38.8M</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indent="0" marL="0">
                        <a:lnSpc>
                          <a:spcPts val="1960"/>
                        </a:lnSpc>
                        <a:buNone/>
                      </a:pPr>
                      <a:r>
                        <a:rPr lang="en-US" sz="1400" dirty="0">
                          <a:solidFill>
                            <a:srgbClr val="14212B"/>
                          </a:solidFill>
                          <a:latin typeface="IBM Plex Sans" pitchFamily="34" charset="0"/>
                          <a:ea typeface="IBM Plex Sans" pitchFamily="34" charset="-122"/>
                          <a:cs typeface="IBM Plex Sans" pitchFamily="34" charset="-120"/>
                        </a:rPr>
                        <a:t>[$__]</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r>
              <a:tr h="385961">
                <a:tc>
                  <a:txBody>
                    <a:bodyPr/>
                    <a:lstStyle/>
                    <a:p>
                      <a:pPr indent="0" marL="0">
                        <a:lnSpc>
                          <a:spcPts val="1960"/>
                        </a:lnSpc>
                        <a:buNone/>
                      </a:pPr>
                      <a:r>
                        <a:rPr lang="en-US" sz="1400" dirty="0">
                          <a:solidFill>
                            <a:srgbClr val="14212B"/>
                          </a:solidFill>
                          <a:latin typeface="IBM Plex Sans" pitchFamily="34" charset="0"/>
                          <a:ea typeface="IBM Plex Sans" pitchFamily="34" charset="-122"/>
                          <a:cs typeface="IBM Plex Sans" pitchFamily="34" charset="-120"/>
                        </a:rPr>
                        <a:t>Cost of recovery levers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indent="0" marL="0">
                        <a:lnSpc>
                          <a:spcPts val="1960"/>
                        </a:lnSpc>
                        <a:buNone/>
                      </a:pPr>
                      <a:r>
                        <a:rPr lang="en-US" sz="1400" dirty="0">
                          <a:solidFill>
                            <a:srgbClr val="14212B"/>
                          </a:solidFill>
                          <a:latin typeface="IBM Plex Sans" pitchFamily="34" charset="0"/>
                          <a:ea typeface="IBM Plex Sans" pitchFamily="34" charset="-122"/>
                          <a:cs typeface="IBM Plex Sans" pitchFamily="34" charset="-120"/>
                        </a:rPr>
                        <a:t>Procurement, finance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indent="0" marL="0">
                        <a:lnSpc>
                          <a:spcPts val="1960"/>
                        </a:lnSpc>
                        <a:buNone/>
                      </a:pPr>
                      <a:r>
                        <a:rPr lang="en-US" sz="1400" dirty="0">
                          <a:solidFill>
                            <a:srgbClr val="14212B"/>
                          </a:solidFill>
                          <a:latin typeface="IBM Plex Sans" pitchFamily="34" charset="0"/>
                          <a:ea typeface="IBM Plex Sans" pitchFamily="34" charset="-122"/>
                          <a:cs typeface="IBM Plex Sans" pitchFamily="34" charset="-120"/>
                        </a:rPr>
                        <a:t>about $0.9M</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indent="0" marL="0">
                        <a:lnSpc>
                          <a:spcPts val="1960"/>
                        </a:lnSpc>
                        <a:buNone/>
                      </a:pPr>
                      <a:r>
                        <a:rPr lang="en-US" sz="1400" dirty="0">
                          <a:solidFill>
                            <a:srgbClr val="14212B"/>
                          </a:solidFill>
                          <a:latin typeface="IBM Plex Sans" pitchFamily="34" charset="0"/>
                          <a:ea typeface="IBM Plex Sans" pitchFamily="34" charset="-122"/>
                          <a:cs typeface="IBM Plex Sans" pitchFamily="34" charset="-120"/>
                        </a:rPr>
                        <a:t>[$__]</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r>
              <a:tr h="385961">
                <a:tc>
                  <a:txBody>
                    <a:bodyPr/>
                    <a:lstStyle/>
                    <a:p>
                      <a:pPr indent="0" marL="0">
                        <a:lnSpc>
                          <a:spcPts val="1960"/>
                        </a:lnSpc>
                        <a:buNone/>
                      </a:pPr>
                      <a:r>
                        <a:rPr lang="en-US" sz="1400" dirty="0">
                          <a:solidFill>
                            <a:srgbClr val="14212B"/>
                          </a:solidFill>
                          <a:latin typeface="IBM Plex Sans" pitchFamily="34" charset="0"/>
                          <a:ea typeface="IBM Plex Sans" pitchFamily="34" charset="-122"/>
                          <a:cs typeface="IBM Plex Sans" pitchFamily="34" charset="-120"/>
                        </a:rPr>
                        <a:t>Non-compliant orders supplied</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indent="0" marL="0">
                        <a:lnSpc>
                          <a:spcPts val="1960"/>
                        </a:lnSpc>
                        <a:buNone/>
                      </a:pPr>
                      <a:r>
                        <a:rPr lang="en-US" sz="1400" dirty="0">
                          <a:solidFill>
                            <a:srgbClr val="14212B"/>
                          </a:solidFill>
                          <a:latin typeface="IBM Plex Sans" pitchFamily="34" charset="0"/>
                          <a:ea typeface="IBM Plex Sans" pitchFamily="34" charset="-122"/>
                          <a:cs typeface="IBM Plex Sans" pitchFamily="34" charset="-120"/>
                        </a:rPr>
                        <a:t>Trade compliance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indent="0" marL="0">
                        <a:lnSpc>
                          <a:spcPts val="1960"/>
                        </a:lnSpc>
                        <a:buNone/>
                      </a:pPr>
                      <a:r>
                        <a:rPr lang="en-US" sz="1400" dirty="0">
                          <a:solidFill>
                            <a:srgbClr val="14212B"/>
                          </a:solidFill>
                          <a:latin typeface="IBM Plex Sans" pitchFamily="34" charset="0"/>
                          <a:ea typeface="IBM Plex Sans" pitchFamily="34" charset="-122"/>
                          <a:cs typeface="IBM Plex Sans" pitchFamily="34" charset="-120"/>
                        </a:rPr>
                        <a:t>0 (2 held)</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indent="0" marL="0">
                        <a:lnSpc>
                          <a:spcPts val="1960"/>
                        </a:lnSpc>
                        <a:buNone/>
                      </a:pPr>
                      <a:r>
                        <a:rPr lang="en-US" sz="1400" dirty="0">
                          <a:solidFill>
                            <a:srgbClr val="14212B"/>
                          </a:solidFill>
                          <a:latin typeface="IBM Plex Sans" pitchFamily="34" charset="0"/>
                          <a:ea typeface="IBM Plex Sans" pitchFamily="34" charset="-122"/>
                          <a:cs typeface="IBM Plex Sans" pitchFamily="34" charset="-120"/>
                        </a:rPr>
                        <a:t>0</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r>
              <a:tr h="385961">
                <a:tc>
                  <a:txBody>
                    <a:bodyPr/>
                    <a:lstStyle/>
                    <a:p>
                      <a:pPr indent="0" marL="0">
                        <a:lnSpc>
                          <a:spcPts val="1960"/>
                        </a:lnSpc>
                        <a:buNone/>
                      </a:pPr>
                      <a:r>
                        <a:rPr lang="en-US" sz="1400" dirty="0">
                          <a:solidFill>
                            <a:srgbClr val="14212B"/>
                          </a:solidFill>
                          <a:latin typeface="IBM Plex Sans" pitchFamily="34" charset="0"/>
                          <a:ea typeface="IBM Plex Sans" pitchFamily="34" charset="-122"/>
                          <a:cs typeface="IBM Plex Sans" pitchFamily="34" charset="-120"/>
                        </a:rPr>
                        <a:t>Decisions approved and logged</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indent="0" marL="0">
                        <a:lnSpc>
                          <a:spcPts val="1960"/>
                        </a:lnSpc>
                        <a:buNone/>
                      </a:pPr>
                      <a:r>
                        <a:rPr lang="en-US" sz="1400" dirty="0">
                          <a:solidFill>
                            <a:srgbClr val="14212B"/>
                          </a:solidFill>
                          <a:latin typeface="IBM Plex Sans" pitchFamily="34" charset="0"/>
                          <a:ea typeface="IBM Plex Sans" pitchFamily="34" charset="-122"/>
                          <a:cs typeface="IBM Plex Sans" pitchFamily="34" charset="-120"/>
                        </a:rPr>
                        <a:t>Ops leaders, auditors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indent="0" marL="0">
                        <a:lnSpc>
                          <a:spcPts val="1960"/>
                        </a:lnSpc>
                        <a:buNone/>
                      </a:pPr>
                      <a:r>
                        <a:rPr lang="en-US" sz="1400" dirty="0">
                          <a:solidFill>
                            <a:srgbClr val="14212B"/>
                          </a:solidFill>
                          <a:latin typeface="IBM Plex Sans" pitchFamily="34" charset="0"/>
                          <a:ea typeface="IBM Plex Sans" pitchFamily="34" charset="-122"/>
                          <a:cs typeface="IBM Plex Sans" pitchFamily="34" charset="-120"/>
                        </a:rPr>
                        <a:t>100% by design</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indent="0" marL="0">
                        <a:lnSpc>
                          <a:spcPts val="1960"/>
                        </a:lnSpc>
                        <a:buNone/>
                      </a:pPr>
                      <a:r>
                        <a:rPr lang="en-US" sz="1400" dirty="0">
                          <a:solidFill>
                            <a:srgbClr val="14212B"/>
                          </a:solidFill>
                          <a:latin typeface="IBM Plex Sans" pitchFamily="34" charset="0"/>
                          <a:ea typeface="IBM Plex Sans" pitchFamily="34" charset="-122"/>
                          <a:cs typeface="IBM Plex Sans" pitchFamily="34" charset="-120"/>
                        </a:rPr>
                        <a:t>100%</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r>
              <a:tr h="385961">
                <a:tc>
                  <a:txBody>
                    <a:bodyPr/>
                    <a:lstStyle/>
                    <a:p>
                      <a:pPr indent="0" marL="0">
                        <a:lnSpc>
                          <a:spcPts val="1960"/>
                        </a:lnSpc>
                        <a:buNone/>
                      </a:pPr>
                      <a:r>
                        <a:rPr lang="en-US" sz="1400" dirty="0">
                          <a:solidFill>
                            <a:srgbClr val="14212B"/>
                          </a:solidFill>
                          <a:latin typeface="IBM Plex Sans" pitchFamily="34" charset="0"/>
                          <a:ea typeface="IBM Plex Sans" pitchFamily="34" charset="-122"/>
                          <a:cs typeface="IBM Plex Sans" pitchFamily="34" charset="-120"/>
                        </a:rPr>
                        <a:t>Early warning on tier 2-3 risk</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indent="0" marL="0">
                        <a:lnSpc>
                          <a:spcPts val="1960"/>
                        </a:lnSpc>
                        <a:buNone/>
                      </a:pPr>
                      <a:r>
                        <a:rPr lang="en-US" sz="1400" dirty="0">
                          <a:solidFill>
                            <a:srgbClr val="14212B"/>
                          </a:solidFill>
                          <a:latin typeface="IBM Plex Sans" pitchFamily="34" charset="0"/>
                          <a:ea typeface="IBM Plex Sans" pitchFamily="34" charset="-122"/>
                          <a:cs typeface="IBM Plex Sans" pitchFamily="34" charset="-120"/>
                        </a:rPr>
                        <a:t>Procurement, new fabs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indent="0" marL="0">
                        <a:lnSpc>
                          <a:spcPts val="1960"/>
                        </a:lnSpc>
                        <a:buNone/>
                      </a:pPr>
                      <a:r>
                        <a:rPr lang="en-US" sz="1400" dirty="0">
                          <a:solidFill>
                            <a:srgbClr val="14212B"/>
                          </a:solidFill>
                          <a:latin typeface="IBM Plex Sans" pitchFamily="34" charset="0"/>
                          <a:ea typeface="IBM Plex Sans" pitchFamily="34" charset="-122"/>
                          <a:cs typeface="IBM Plex Sans" pitchFamily="34" charset="-120"/>
                        </a:rPr>
                        <a:t>Not in demo</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indent="0" marL="0">
                        <a:lnSpc>
                          <a:spcPts val="1960"/>
                        </a:lnSpc>
                        <a:buNone/>
                      </a:pPr>
                      <a:r>
                        <a:rPr lang="en-US" sz="1400" dirty="0">
                          <a:solidFill>
                            <a:srgbClr val="14212B"/>
                          </a:solidFill>
                          <a:latin typeface="IBM Plex Sans" pitchFamily="34" charset="0"/>
                          <a:ea typeface="IBM Plex Sans" pitchFamily="34" charset="-122"/>
                          <a:cs typeface="IBM Plex Sans" pitchFamily="34" charset="-120"/>
                        </a:rPr>
                        <a:t>[__ days earlier]</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r>
            </a:tbl>
          </a:graphicData>
        </a:graphic>
      </p:graphicFrame>
      <p:sp>
        <p:nvSpPr>
          <p:cNvPr id="5" name="Text 2"/>
          <p:cNvSpPr/>
          <p:nvPr/>
        </p:nvSpPr>
        <p:spPr>
          <a:xfrm>
            <a:off x="812800" y="6238280"/>
            <a:ext cx="551402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79"/>
                </a:solidFill>
                <a:latin typeface="IBM Plex Sans" pitchFamily="34" charset="0"/>
                <a:ea typeface="IBM Plex Sans" pitchFamily="34" charset="-122"/>
                <a:cs typeface="IBM Plex Sans" pitchFamily="34" charset="-120"/>
              </a:rPr>
              <a:t>Demo results from bundled illustrative data, not customer data · 15</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3EFE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9A5B08"/>
                </a:solidFill>
                <a:latin typeface="IBM Plex Sans" pitchFamily="34" charset="0"/>
                <a:ea typeface="IBM Plex Sans" pitchFamily="34" charset="-122"/>
                <a:cs typeface="IBM Plex Sans" pitchFamily="34" charset="-120"/>
              </a:rPr>
              <a:t>TRUST LAYER · WHY A LEDGER</a:t>
            </a:r>
            <a:endParaRPr lang="en-US" sz="1200" dirty="0"/>
          </a:p>
        </p:txBody>
      </p:sp>
      <p:sp>
        <p:nvSpPr>
          <p:cNvPr id="3" name="Text 1"/>
          <p:cNvSpPr/>
          <p:nvPr>
            <p:ph type="title"/>
          </p:nvPr>
        </p:nvSpPr>
        <p:spPr>
          <a:xfrm>
            <a:off x="812800" y="1330920"/>
            <a:ext cx="10883392" cy="103108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4212B"/>
                </a:solidFill>
                <a:latin typeface="Space Grotesk" pitchFamily="34" charset="0"/>
                <a:ea typeface="Space Grotesk" pitchFamily="34" charset="-122"/>
                <a:cs typeface="Space Grotesk" pitchFamily="34" charset="-120"/>
              </a:rPr>
              <a:t>Our audit log is tamper-evident. It is not tamper-proof against us.</a:t>
            </a:r>
            <a:endParaRPr lang="en-US" sz="3600" dirty="0"/>
          </a:p>
        </p:txBody>
      </p:sp>
      <p:sp>
        <p:nvSpPr>
          <p:cNvPr id="4" name="Shape 2"/>
          <p:cNvSpPr/>
          <p:nvPr/>
        </p:nvSpPr>
        <p:spPr>
          <a:xfrm>
            <a:off x="815975" y="2644577"/>
            <a:ext cx="5168900" cy="1733550"/>
          </a:xfrm>
          <a:prstGeom prst="roundRect">
            <a:avLst>
              <a:gd name="adj" fmla="val 5678"/>
            </a:avLst>
          </a:prstGeom>
          <a:solidFill>
            <a:srgbClr val="FFFDF8"/>
          </a:solidFill>
          <a:ln w="6350">
            <a:solidFill>
              <a:srgbClr val="D9D3C4"/>
            </a:solidFill>
            <a:prstDash val="solid"/>
          </a:ln>
        </p:spPr>
      </p:sp>
      <p:sp>
        <p:nvSpPr>
          <p:cNvPr id="5" name="Text 3"/>
          <p:cNvSpPr/>
          <p:nvPr/>
        </p:nvSpPr>
        <p:spPr>
          <a:xfrm>
            <a:off x="1073150" y="2901752"/>
            <a:ext cx="4794187"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4212B"/>
                </a:solidFill>
                <a:latin typeface="IBM Plex Sans" pitchFamily="34" charset="0"/>
                <a:ea typeface="IBM Plex Sans" pitchFamily="34" charset="-122"/>
                <a:cs typeface="IBM Plex Sans" pitchFamily="34" charset="-120"/>
              </a:rPr>
              <a:t>Today</a:t>
            </a:r>
            <a:endParaRPr lang="en-US" sz="2000" dirty="0"/>
          </a:p>
        </p:txBody>
      </p:sp>
      <p:sp>
        <p:nvSpPr>
          <p:cNvPr id="6" name="Text 4"/>
          <p:cNvSpPr/>
          <p:nvPr/>
        </p:nvSpPr>
        <p:spPr>
          <a:xfrm>
            <a:off x="1073150" y="3308152"/>
            <a:ext cx="4794187"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6525C"/>
                </a:solidFill>
                <a:latin typeface="IBM Plex Sans" pitchFamily="34" charset="0"/>
                <a:ea typeface="IBM Plex Sans" pitchFamily="34" charset="-122"/>
                <a:cs typeface="IBM Plex Sans" pitchFamily="34" charset="-120"/>
              </a:rPr>
              <a:t>A hash chain in our own database. Whoever runs the database can rebuild the whole chain and nobody outside would know.</a:t>
            </a:r>
            <a:endParaRPr lang="en-US" sz="1500" dirty="0"/>
          </a:p>
        </p:txBody>
      </p:sp>
      <p:sp>
        <p:nvSpPr>
          <p:cNvPr id="7" name="Shape 5"/>
          <p:cNvSpPr/>
          <p:nvPr/>
        </p:nvSpPr>
        <p:spPr>
          <a:xfrm>
            <a:off x="6197600" y="2647752"/>
            <a:ext cx="5175250" cy="1727200"/>
          </a:xfrm>
          <a:prstGeom prst="roundRect">
            <a:avLst>
              <a:gd name="adj" fmla="val 5515"/>
            </a:avLst>
          </a:prstGeom>
          <a:solidFill>
            <a:srgbClr val="FFFDF8"/>
          </a:solidFill>
          <a:ln w="12700">
            <a:solidFill>
              <a:srgbClr val="1E7F72"/>
            </a:solidFill>
            <a:prstDash val="solid"/>
          </a:ln>
        </p:spPr>
      </p:sp>
      <p:sp>
        <p:nvSpPr>
          <p:cNvPr id="8" name="Text 6"/>
          <p:cNvSpPr/>
          <p:nvPr/>
        </p:nvSpPr>
        <p:spPr>
          <a:xfrm>
            <a:off x="6457950" y="2908102"/>
            <a:ext cx="4794187"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E7F72"/>
                </a:solidFill>
                <a:latin typeface="IBM Plex Sans" pitchFamily="34" charset="0"/>
                <a:ea typeface="IBM Plex Sans" pitchFamily="34" charset="-122"/>
                <a:cs typeface="IBM Plex Sans" pitchFamily="34" charset="-120"/>
              </a:rPr>
              <a:t>With a ledger</a:t>
            </a:r>
            <a:endParaRPr lang="en-US" sz="2000" dirty="0"/>
          </a:p>
        </p:txBody>
      </p:sp>
      <p:sp>
        <p:nvSpPr>
          <p:cNvPr id="9" name="Text 7"/>
          <p:cNvSpPr/>
          <p:nvPr/>
        </p:nvSpPr>
        <p:spPr>
          <a:xfrm>
            <a:off x="6457950" y="3314502"/>
            <a:ext cx="4794187"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6525C"/>
                </a:solidFill>
                <a:latin typeface="IBM Plex Sans" pitchFamily="34" charset="0"/>
                <a:ea typeface="IBM Plex Sans" pitchFamily="34" charset="-122"/>
                <a:cs typeface="IBM Plex Sans" pitchFamily="34" charset="-120"/>
              </a:rPr>
              <a:t>The chain head is published to a ledger several parties witness. Rewriting history now means rewriting theirs too.</a:t>
            </a:r>
            <a:endParaRPr lang="en-US" sz="1500" dirty="0"/>
          </a:p>
        </p:txBody>
      </p:sp>
      <p:sp>
        <p:nvSpPr>
          <p:cNvPr id="10" name="Text 8"/>
          <p:cNvSpPr/>
          <p:nvPr/>
        </p:nvSpPr>
        <p:spPr>
          <a:xfrm>
            <a:off x="812800" y="4686102"/>
            <a:ext cx="1137920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6525C"/>
                </a:solidFill>
                <a:latin typeface="IBM Plex Sans" pitchFamily="34" charset="0"/>
                <a:ea typeface="IBM Plex Sans" pitchFamily="34" charset="-122"/>
                <a:cs typeface="IBM Plex Sans" pitchFamily="34" charset="-120"/>
              </a:rPr>
              <a:t>It matters most across companies: OEM, fab, OSAT and suppliers need one shared record of who promised what, and when.</a:t>
            </a:r>
            <a:endParaRPr lang="en-US" sz="1500" dirty="0"/>
          </a:p>
        </p:txBody>
      </p:sp>
      <p:sp>
        <p:nvSpPr>
          <p:cNvPr id="11" name="Text 9"/>
          <p:cNvSpPr/>
          <p:nvPr/>
        </p:nvSpPr>
        <p:spPr>
          <a:xfrm>
            <a:off x="812800" y="6238280"/>
            <a:ext cx="353198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79"/>
                </a:solidFill>
                <a:latin typeface="IBM Plex Sans" pitchFamily="34" charset="0"/>
                <a:ea typeface="IBM Plex Sans" pitchFamily="34" charset="-122"/>
                <a:cs typeface="IBM Plex Sans" pitchFamily="34" charset="-120"/>
              </a:rPr>
              <a:t>Proposed design, not yet implemented · 16</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F1B2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E9A23B"/>
                </a:solidFill>
                <a:latin typeface="IBM Plex Sans" pitchFamily="34" charset="0"/>
                <a:ea typeface="IBM Plex Sans" pitchFamily="34" charset="-122"/>
                <a:cs typeface="IBM Plex Sans" pitchFamily="34" charset="-120"/>
              </a:rPr>
              <a:t>TRUST LAYER · ARCHITECTURE</a:t>
            </a:r>
            <a:endParaRPr lang="en-US" sz="1200" dirty="0"/>
          </a:p>
        </p:txBody>
      </p:sp>
      <p:sp>
        <p:nvSpPr>
          <p:cNvPr id="3" name="Text 1"/>
          <p:cNvSpPr/>
          <p:nvPr>
            <p:ph type="title"/>
          </p:nvPr>
        </p:nvSpPr>
        <p:spPr>
          <a:xfrm>
            <a:off x="812800" y="1280120"/>
            <a:ext cx="10883392" cy="919361"/>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F3EFE6"/>
                </a:solidFill>
                <a:latin typeface="Space Grotesk" pitchFamily="34" charset="0"/>
                <a:ea typeface="Space Grotesk" pitchFamily="34" charset="-122"/>
                <a:cs typeface="Space Grotesk" pitchFamily="34" charset="-120"/>
              </a:rPr>
              <a:t>A permissioned ledger sits beside the platform, not inside it</a:t>
            </a:r>
            <a:endParaRPr lang="en-US" sz="3200" dirty="0"/>
          </a:p>
        </p:txBody>
      </p:sp>
      <p:sp>
        <p:nvSpPr>
          <p:cNvPr id="4" name="Shape 2"/>
          <p:cNvSpPr/>
          <p:nvPr/>
        </p:nvSpPr>
        <p:spPr>
          <a:xfrm>
            <a:off x="812800" y="2428081"/>
            <a:ext cx="2540000" cy="1450777"/>
          </a:xfrm>
          <a:prstGeom prst="roundRect">
            <a:avLst>
              <a:gd name="adj" fmla="val 7003"/>
            </a:avLst>
          </a:prstGeom>
          <a:solidFill>
            <a:srgbClr val="183041"/>
          </a:solidFill>
          <a:ln/>
        </p:spPr>
      </p:sp>
      <p:sp>
        <p:nvSpPr>
          <p:cNvPr id="5" name="Text 3"/>
          <p:cNvSpPr/>
          <p:nvPr/>
        </p:nvSpPr>
        <p:spPr>
          <a:xfrm>
            <a:off x="1016000" y="2631281"/>
            <a:ext cx="2197608"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E9A23B"/>
                </a:solidFill>
                <a:latin typeface="IBM Plex Sans" pitchFamily="34" charset="0"/>
                <a:ea typeface="IBM Plex Sans" pitchFamily="34" charset="-122"/>
                <a:cs typeface="IBM Plex Sans" pitchFamily="34" charset="-120"/>
              </a:rPr>
              <a:t>Platform</a:t>
            </a:r>
            <a:endParaRPr lang="en-US" sz="1800" dirty="0"/>
          </a:p>
        </p:txBody>
      </p:sp>
      <p:sp>
        <p:nvSpPr>
          <p:cNvPr id="6" name="Text 4"/>
          <p:cNvSpPr/>
          <p:nvPr/>
        </p:nvSpPr>
        <p:spPr>
          <a:xfrm>
            <a:off x="1016000" y="2981722"/>
            <a:ext cx="2197608"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B8C4CE"/>
                </a:solidFill>
                <a:latin typeface="IBM Plex Sans" pitchFamily="34" charset="0"/>
                <a:ea typeface="IBM Plex Sans" pitchFamily="34" charset="-122"/>
                <a:cs typeface="IBM Plex Sans" pitchFamily="34" charset="-120"/>
              </a:rPr>
              <a:t>Audit rows, approvals, confirmations, plan hashes</a:t>
            </a:r>
            <a:endParaRPr lang="en-US" sz="1300" dirty="0"/>
          </a:p>
        </p:txBody>
      </p:sp>
      <p:sp>
        <p:nvSpPr>
          <p:cNvPr id="7" name="Shape 5"/>
          <p:cNvSpPr/>
          <p:nvPr/>
        </p:nvSpPr>
        <p:spPr>
          <a:xfrm>
            <a:off x="3479800" y="2428081"/>
            <a:ext cx="2540000" cy="1450777"/>
          </a:xfrm>
          <a:prstGeom prst="roundRect">
            <a:avLst>
              <a:gd name="adj" fmla="val 7003"/>
            </a:avLst>
          </a:prstGeom>
          <a:solidFill>
            <a:srgbClr val="183041"/>
          </a:solidFill>
          <a:ln/>
        </p:spPr>
      </p:sp>
      <p:sp>
        <p:nvSpPr>
          <p:cNvPr id="8" name="Text 6"/>
          <p:cNvSpPr/>
          <p:nvPr/>
        </p:nvSpPr>
        <p:spPr>
          <a:xfrm>
            <a:off x="3683000" y="2631281"/>
            <a:ext cx="2197608"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E9A23B"/>
                </a:solidFill>
                <a:latin typeface="IBM Plex Sans" pitchFamily="34" charset="0"/>
                <a:ea typeface="IBM Plex Sans" pitchFamily="34" charset="-122"/>
                <a:cs typeface="IBM Plex Sans" pitchFamily="34" charset="-120"/>
              </a:rPr>
              <a:t>Anchor service</a:t>
            </a:r>
            <a:endParaRPr lang="en-US" sz="1800" dirty="0"/>
          </a:p>
        </p:txBody>
      </p:sp>
      <p:sp>
        <p:nvSpPr>
          <p:cNvPr id="9" name="Text 7"/>
          <p:cNvSpPr/>
          <p:nvPr/>
        </p:nvSpPr>
        <p:spPr>
          <a:xfrm>
            <a:off x="3683000" y="2981722"/>
            <a:ext cx="2197608"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B8C4CE"/>
                </a:solidFill>
                <a:latin typeface="IBM Plex Sans" pitchFamily="34" charset="0"/>
                <a:ea typeface="IBM Plex Sans" pitchFamily="34" charset="-122"/>
                <a:cs typeface="IBM Plex Sans" pitchFamily="34" charset="-120"/>
              </a:rPr>
              <a:t>Batches rows into a Merkle tree, signs the root</a:t>
            </a:r>
            <a:endParaRPr lang="en-US" sz="1300" dirty="0"/>
          </a:p>
        </p:txBody>
      </p:sp>
      <p:sp>
        <p:nvSpPr>
          <p:cNvPr id="10" name="Shape 8"/>
          <p:cNvSpPr/>
          <p:nvPr/>
        </p:nvSpPr>
        <p:spPr>
          <a:xfrm>
            <a:off x="6153150" y="2434431"/>
            <a:ext cx="2552700" cy="1438077"/>
          </a:xfrm>
          <a:prstGeom prst="roundRect">
            <a:avLst>
              <a:gd name="adj" fmla="val 6623"/>
            </a:avLst>
          </a:prstGeom>
          <a:solidFill>
            <a:srgbClr val="183041"/>
          </a:solidFill>
          <a:ln w="12700">
            <a:solidFill>
              <a:srgbClr val="4CC3B0"/>
            </a:solidFill>
            <a:prstDash val="solid"/>
          </a:ln>
        </p:spPr>
      </p:sp>
      <p:sp>
        <p:nvSpPr>
          <p:cNvPr id="11" name="Text 9"/>
          <p:cNvSpPr/>
          <p:nvPr/>
        </p:nvSpPr>
        <p:spPr>
          <a:xfrm>
            <a:off x="6362700" y="2643981"/>
            <a:ext cx="2197608"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4CC3B0"/>
                </a:solidFill>
                <a:latin typeface="IBM Plex Sans" pitchFamily="34" charset="0"/>
                <a:ea typeface="IBM Plex Sans" pitchFamily="34" charset="-122"/>
                <a:cs typeface="IBM Plex Sans" pitchFamily="34" charset="-120"/>
              </a:rPr>
              <a:t>Ledger</a:t>
            </a:r>
            <a:endParaRPr lang="en-US" sz="1800" dirty="0"/>
          </a:p>
        </p:txBody>
      </p:sp>
      <p:sp>
        <p:nvSpPr>
          <p:cNvPr id="12" name="Text 10"/>
          <p:cNvSpPr/>
          <p:nvPr/>
        </p:nvSpPr>
        <p:spPr>
          <a:xfrm>
            <a:off x="6362700" y="2994422"/>
            <a:ext cx="2197608" cy="693936"/>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B8C4CE"/>
                </a:solidFill>
                <a:latin typeface="IBM Plex Sans" pitchFamily="34" charset="0"/>
                <a:ea typeface="IBM Plex Sans" pitchFamily="34" charset="-122"/>
                <a:cs typeface="IBM Plex Sans" pitchFamily="34" charset="-120"/>
              </a:rPr>
              <a:t>Roots and signed attestations; members witness</a:t>
            </a:r>
            <a:endParaRPr lang="en-US" sz="1300" dirty="0"/>
          </a:p>
        </p:txBody>
      </p:sp>
      <p:sp>
        <p:nvSpPr>
          <p:cNvPr id="13" name="Shape 11"/>
          <p:cNvSpPr/>
          <p:nvPr/>
        </p:nvSpPr>
        <p:spPr>
          <a:xfrm>
            <a:off x="8839200" y="2428081"/>
            <a:ext cx="2540000" cy="1450777"/>
          </a:xfrm>
          <a:prstGeom prst="roundRect">
            <a:avLst>
              <a:gd name="adj" fmla="val 7003"/>
            </a:avLst>
          </a:prstGeom>
          <a:solidFill>
            <a:srgbClr val="183041"/>
          </a:solidFill>
          <a:ln/>
        </p:spPr>
      </p:sp>
      <p:sp>
        <p:nvSpPr>
          <p:cNvPr id="14" name="Text 12"/>
          <p:cNvSpPr/>
          <p:nvPr/>
        </p:nvSpPr>
        <p:spPr>
          <a:xfrm>
            <a:off x="9042400" y="2631281"/>
            <a:ext cx="2197608"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E9A23B"/>
                </a:solidFill>
                <a:latin typeface="IBM Plex Sans" pitchFamily="34" charset="0"/>
                <a:ea typeface="IBM Plex Sans" pitchFamily="34" charset="-122"/>
                <a:cs typeface="IBM Plex Sans" pitchFamily="34" charset="-120"/>
              </a:rPr>
              <a:t>Verifier</a:t>
            </a:r>
            <a:endParaRPr lang="en-US" sz="1800" dirty="0"/>
          </a:p>
        </p:txBody>
      </p:sp>
      <p:sp>
        <p:nvSpPr>
          <p:cNvPr id="15" name="Text 13"/>
          <p:cNvSpPr/>
          <p:nvPr/>
        </p:nvSpPr>
        <p:spPr>
          <a:xfrm>
            <a:off x="9042400" y="2981722"/>
            <a:ext cx="2197608"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B8C4CE"/>
                </a:solidFill>
                <a:latin typeface="IBM Plex Sans" pitchFamily="34" charset="0"/>
                <a:ea typeface="IBM Plex Sans" pitchFamily="34" charset="-122"/>
                <a:cs typeface="IBM Plex Sans" pitchFamily="34" charset="-120"/>
              </a:rPr>
              <a:t>Anyone with a proof checks a record against the root</a:t>
            </a:r>
            <a:endParaRPr lang="en-US" sz="1300" dirty="0"/>
          </a:p>
        </p:txBody>
      </p:sp>
      <p:sp>
        <p:nvSpPr>
          <p:cNvPr id="16" name="Text 14"/>
          <p:cNvSpPr/>
          <p:nvPr/>
        </p:nvSpPr>
        <p:spPr>
          <a:xfrm>
            <a:off x="812800" y="4132858"/>
            <a:ext cx="10883392"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B8C4CE"/>
                </a:solidFill>
                <a:latin typeface="IBM Plex Sans" pitchFamily="34" charset="0"/>
                <a:ea typeface="IBM Plex Sans" pitchFamily="34" charset="-122"/>
                <a:cs typeface="IBM Plex Sans" pitchFamily="34" charset="-120"/>
              </a:rPr>
              <a:t>Suppliers sign confirmations with their own keys. The platform keeps the data; the ledger keeps the proof. Candidate stacks: Hyperledger Fabric, or anchoring to a public chain.</a:t>
            </a:r>
            <a:endParaRPr lang="en-US" sz="1500" dirty="0"/>
          </a:p>
        </p:txBody>
      </p:sp>
      <p:sp>
        <p:nvSpPr>
          <p:cNvPr id="17" name="Text 15"/>
          <p:cNvSpPr/>
          <p:nvPr/>
        </p:nvSpPr>
        <p:spPr>
          <a:xfrm>
            <a:off x="812800" y="6238280"/>
            <a:ext cx="353198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A0AD"/>
                </a:solidFill>
                <a:latin typeface="IBM Plex Sans" pitchFamily="34" charset="0"/>
                <a:ea typeface="IBM Plex Sans" pitchFamily="34" charset="-122"/>
                <a:cs typeface="IBM Plex Sans" pitchFamily="34" charset="-120"/>
              </a:rPr>
              <a:t>Proposed design, not yet implemented · 17</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3EFE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9A5B08"/>
                </a:solidFill>
                <a:latin typeface="IBM Plex Sans" pitchFamily="34" charset="0"/>
                <a:ea typeface="IBM Plex Sans" pitchFamily="34" charset="-122"/>
                <a:cs typeface="IBM Plex Sans" pitchFamily="34" charset="-120"/>
              </a:rPr>
              <a:t>TRUST LAYER · WHAT GOES WHERE</a:t>
            </a:r>
            <a:endParaRPr lang="en-US" sz="1200" dirty="0"/>
          </a:p>
        </p:txBody>
      </p:sp>
      <p:sp>
        <p:nvSpPr>
          <p:cNvPr id="3" name="Text 1"/>
          <p:cNvSpPr/>
          <p:nvPr>
            <p:ph type="title"/>
          </p:nvPr>
        </p:nvSpPr>
        <p:spPr>
          <a:xfrm>
            <a:off x="812800" y="1280120"/>
            <a:ext cx="10883392" cy="919361"/>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4212B"/>
                </a:solidFill>
                <a:latin typeface="Space Grotesk" pitchFamily="34" charset="0"/>
                <a:ea typeface="Space Grotesk" pitchFamily="34" charset="-122"/>
                <a:cs typeface="Space Grotesk" pitchFamily="34" charset="-120"/>
              </a:rPr>
              <a:t>Hashes and signatures on the ledger. Everything sensitive stays off it.</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2440781"/>
          <a:ext cx="10553700" cy="2315766"/>
        </p:xfrm>
        <a:graphic>
          <a:graphicData uri="http://schemas.openxmlformats.org/drawingml/2006/table">
            <a:tbl>
              <a:tblPr/>
              <a:tblGrid>
                <a:gridCol w="3166110"/>
                <a:gridCol w="2110740"/>
                <a:gridCol w="5276850"/>
              </a:tblGrid>
              <a:tr h="385961">
                <a:tc>
                  <a:txBody>
                    <a:bodyPr/>
                    <a:lstStyle/>
                    <a:p>
                      <a:pPr indent="0" marL="0">
                        <a:lnSpc>
                          <a:spcPts val="1960"/>
                        </a:lnSpc>
                        <a:buNone/>
                      </a:pPr>
                      <a:r>
                        <a:rPr lang="en-US" sz="1400" b="1" dirty="0">
                          <a:solidFill>
                            <a:srgbClr val="14212B"/>
                          </a:solidFill>
                          <a:latin typeface="IBM Plex Sans" pitchFamily="34" charset="0"/>
                          <a:ea typeface="IBM Plex Sans" pitchFamily="34" charset="-122"/>
                          <a:cs typeface="IBM Plex Sans" pitchFamily="34" charset="-120"/>
                        </a:rPr>
                        <a:t>Record</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2BFB8"/>
                      </a:solidFill>
                      <a:prstDash val="solid"/>
                      <a:round/>
                      <a:headEnd type="none" w="med" len="med"/>
                      <a:tailEnd type="none" w="med" len="med"/>
                    </a:lnL>
                    <a:lnR w="12700" cap="flat" cmpd="sng" algn="ctr">
                      <a:solidFill>
                        <a:srgbClr val="B4B1AA"/>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4B1AA"/>
                      </a:solidFill>
                      <a:prstDash val="solid"/>
                      <a:round/>
                      <a:headEnd type="none" w="med" len="med"/>
                      <a:tailEnd type="none" w="med" len="med"/>
                    </a:lnB>
                    <a:solidFill>
                      <a:srgbClr val="E1DDD5"/>
                    </a:solidFill>
                  </a:tcPr>
                </a:tc>
                <a:tc>
                  <a:txBody>
                    <a:bodyPr/>
                    <a:lstStyle/>
                    <a:p>
                      <a:pPr indent="0" marL="0">
                        <a:lnSpc>
                          <a:spcPts val="1960"/>
                        </a:lnSpc>
                        <a:buNone/>
                      </a:pPr>
                      <a:r>
                        <a:rPr lang="en-US" sz="1400" b="1" dirty="0">
                          <a:solidFill>
                            <a:srgbClr val="14212B"/>
                          </a:solidFill>
                          <a:latin typeface="IBM Plex Sans" pitchFamily="34" charset="0"/>
                          <a:ea typeface="IBM Plex Sans" pitchFamily="34" charset="-122"/>
                          <a:cs typeface="IBM Plex Sans" pitchFamily="34" charset="-120"/>
                        </a:rPr>
                        <a:t>Where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4B1AA"/>
                      </a:solidFill>
                      <a:prstDash val="solid"/>
                      <a:round/>
                      <a:headEnd type="none" w="med" len="med"/>
                      <a:tailEnd type="none" w="med" len="med"/>
                    </a:lnL>
                    <a:lnR w="12700" cap="flat" cmpd="sng" algn="ctr">
                      <a:solidFill>
                        <a:srgbClr val="B4B1AA"/>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4B1AA"/>
                      </a:solidFill>
                      <a:prstDash val="solid"/>
                      <a:round/>
                      <a:headEnd type="none" w="med" len="med"/>
                      <a:tailEnd type="none" w="med" len="med"/>
                    </a:lnB>
                    <a:solidFill>
                      <a:srgbClr val="E1DDD5"/>
                    </a:solidFill>
                  </a:tcPr>
                </a:tc>
                <a:tc>
                  <a:txBody>
                    <a:bodyPr/>
                    <a:lstStyle/>
                    <a:p>
                      <a:pPr indent="0" marL="0">
                        <a:lnSpc>
                          <a:spcPts val="1960"/>
                        </a:lnSpc>
                        <a:buNone/>
                      </a:pPr>
                      <a:r>
                        <a:rPr lang="en-US" sz="1400" b="1" dirty="0">
                          <a:solidFill>
                            <a:srgbClr val="14212B"/>
                          </a:solidFill>
                          <a:latin typeface="IBM Plex Sans" pitchFamily="34" charset="0"/>
                          <a:ea typeface="IBM Plex Sans" pitchFamily="34" charset="-122"/>
                          <a:cs typeface="IBM Plex Sans" pitchFamily="34" charset="-120"/>
                        </a:rPr>
                        <a:t>Reason</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B4B1AA"/>
                      </a:solidFill>
                      <a:prstDash val="solid"/>
                      <a:round/>
                      <a:headEnd type="none" w="med" len="med"/>
                      <a:tailEnd type="none" w="med" len="med"/>
                    </a:lnL>
                    <a:lnR w="12700" cap="flat" cmpd="sng" algn="ctr">
                      <a:solidFill>
                        <a:srgbClr val="B4B1AA"/>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B4B1AA"/>
                      </a:solidFill>
                      <a:prstDash val="solid"/>
                      <a:round/>
                      <a:headEnd type="none" w="med" len="med"/>
                      <a:tailEnd type="none" w="med" len="med"/>
                    </a:lnB>
                    <a:solidFill>
                      <a:srgbClr val="E1DDD5"/>
                    </a:solidFill>
                  </a:tcPr>
                </a:tc>
              </a:tr>
              <a:tr h="385961">
                <a:tc>
                  <a:txBody>
                    <a:bodyPr/>
                    <a:lstStyle/>
                    <a:p>
                      <a:pPr indent="0" marL="0">
                        <a:lnSpc>
                          <a:spcPts val="1960"/>
                        </a:lnSpc>
                        <a:buNone/>
                      </a:pPr>
                      <a:r>
                        <a:rPr lang="en-US" sz="1400" dirty="0">
                          <a:solidFill>
                            <a:srgbClr val="14212B"/>
                          </a:solidFill>
                          <a:latin typeface="IBM Plex Sans" pitchFamily="34" charset="0"/>
                          <a:ea typeface="IBM Plex Sans" pitchFamily="34" charset="-122"/>
                          <a:cs typeface="IBM Plex Sans" pitchFamily="34" charset="-120"/>
                        </a:rPr>
                        <a:t>Audit chain head</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4B1AA"/>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indent="0" marL="0">
                        <a:lnSpc>
                          <a:spcPts val="1960"/>
                        </a:lnSpc>
                        <a:buNone/>
                      </a:pPr>
                      <a:r>
                        <a:rPr lang="en-US" sz="1400" dirty="0">
                          <a:solidFill>
                            <a:srgbClr val="14212B"/>
                          </a:solidFill>
                          <a:latin typeface="IBM Plex Sans" pitchFamily="34" charset="0"/>
                          <a:ea typeface="IBM Plex Sans" pitchFamily="34" charset="-122"/>
                          <a:cs typeface="IBM Plex Sans" pitchFamily="34" charset="-120"/>
                        </a:rPr>
                        <a:t>Ledger</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4B1AA"/>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indent="0" marL="0">
                        <a:lnSpc>
                          <a:spcPts val="1960"/>
                        </a:lnSpc>
                        <a:buNone/>
                      </a:pPr>
                      <a:r>
                        <a:rPr lang="en-US" sz="1400" dirty="0">
                          <a:solidFill>
                            <a:srgbClr val="14212B"/>
                          </a:solidFill>
                          <a:latin typeface="IBM Plex Sans" pitchFamily="34" charset="0"/>
                          <a:ea typeface="IBM Plex Sans" pitchFamily="34" charset="-122"/>
                          <a:cs typeface="IBM Plex Sans" pitchFamily="34" charset="-120"/>
                        </a:rPr>
                        <a:t>Proves history was not rewritten</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B4B1AA"/>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r>
              <a:tr h="385961">
                <a:tc>
                  <a:txBody>
                    <a:bodyPr/>
                    <a:lstStyle/>
                    <a:p>
                      <a:pPr indent="0" marL="0">
                        <a:lnSpc>
                          <a:spcPts val="1960"/>
                        </a:lnSpc>
                        <a:buNone/>
                      </a:pPr>
                      <a:r>
                        <a:rPr lang="en-US" sz="1400" dirty="0">
                          <a:solidFill>
                            <a:srgbClr val="14212B"/>
                          </a:solidFill>
                          <a:latin typeface="IBM Plex Sans" pitchFamily="34" charset="0"/>
                          <a:ea typeface="IBM Plex Sans" pitchFamily="34" charset="-122"/>
                          <a:cs typeface="IBM Plex Sans" pitchFamily="34" charset="-120"/>
                        </a:rPr>
                        <a:t>Plan hash and approvals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indent="0" marL="0">
                        <a:lnSpc>
                          <a:spcPts val="1960"/>
                        </a:lnSpc>
                        <a:buNone/>
                      </a:pPr>
                      <a:r>
                        <a:rPr lang="en-US" sz="1400" dirty="0">
                          <a:solidFill>
                            <a:srgbClr val="14212B"/>
                          </a:solidFill>
                          <a:latin typeface="IBM Plex Sans" pitchFamily="34" charset="0"/>
                          <a:ea typeface="IBM Plex Sans" pitchFamily="34" charset="-122"/>
                          <a:cs typeface="IBM Plex Sans" pitchFamily="34" charset="-120"/>
                        </a:rPr>
                        <a:t>Ledger</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indent="0" marL="0">
                        <a:lnSpc>
                          <a:spcPts val="1960"/>
                        </a:lnSpc>
                        <a:buNone/>
                      </a:pPr>
                      <a:r>
                        <a:rPr lang="en-US" sz="1400" dirty="0">
                          <a:solidFill>
                            <a:srgbClr val="14212B"/>
                          </a:solidFill>
                          <a:latin typeface="IBM Plex Sans" pitchFamily="34" charset="0"/>
                          <a:ea typeface="IBM Plex Sans" pitchFamily="34" charset="-122"/>
                          <a:cs typeface="IBM Plex Sans" pitchFamily="34" charset="-120"/>
                        </a:rPr>
                        <a:t>Who approved exactly which plan</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r>
              <a:tr h="385961">
                <a:tc>
                  <a:txBody>
                    <a:bodyPr/>
                    <a:lstStyle/>
                    <a:p>
                      <a:pPr indent="0" marL="0">
                        <a:lnSpc>
                          <a:spcPts val="1960"/>
                        </a:lnSpc>
                        <a:buNone/>
                      </a:pPr>
                      <a:r>
                        <a:rPr lang="en-US" sz="1400" dirty="0">
                          <a:solidFill>
                            <a:srgbClr val="14212B"/>
                          </a:solidFill>
                          <a:latin typeface="IBM Plex Sans" pitchFamily="34" charset="0"/>
                          <a:ea typeface="IBM Plex Sans" pitchFamily="34" charset="-122"/>
                          <a:cs typeface="IBM Plex Sans" pitchFamily="34" charset="-120"/>
                        </a:rPr>
                        <a:t>Supplier confirmation</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indent="0" marL="0">
                        <a:lnSpc>
                          <a:spcPts val="1960"/>
                        </a:lnSpc>
                        <a:buNone/>
                      </a:pPr>
                      <a:r>
                        <a:rPr lang="en-US" sz="1400" dirty="0">
                          <a:solidFill>
                            <a:srgbClr val="14212B"/>
                          </a:solidFill>
                          <a:latin typeface="IBM Plex Sans" pitchFamily="34" charset="0"/>
                          <a:ea typeface="IBM Plex Sans" pitchFamily="34" charset="-122"/>
                          <a:cs typeface="IBM Plex Sans" pitchFamily="34" charset="-120"/>
                        </a:rPr>
                        <a:t>Ledger (signed)</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indent="0" marL="0">
                        <a:lnSpc>
                          <a:spcPts val="1960"/>
                        </a:lnSpc>
                        <a:buNone/>
                      </a:pPr>
                      <a:r>
                        <a:rPr lang="en-US" sz="1400" dirty="0">
                          <a:solidFill>
                            <a:srgbClr val="14212B"/>
                          </a:solidFill>
                          <a:latin typeface="IBM Plex Sans" pitchFamily="34" charset="0"/>
                          <a:ea typeface="IBM Plex Sans" pitchFamily="34" charset="-122"/>
                          <a:cs typeface="IBM Plex Sans" pitchFamily="34" charset="-120"/>
                        </a:rPr>
                        <a:t>Non-repudiable commitment</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r>
              <a:tr h="385961">
                <a:tc>
                  <a:txBody>
                    <a:bodyPr/>
                    <a:lstStyle/>
                    <a:p>
                      <a:pPr indent="0" marL="0">
                        <a:lnSpc>
                          <a:spcPts val="1960"/>
                        </a:lnSpc>
                        <a:buNone/>
                      </a:pPr>
                      <a:r>
                        <a:rPr lang="en-US" sz="1400" dirty="0">
                          <a:solidFill>
                            <a:srgbClr val="14212B"/>
                          </a:solidFill>
                          <a:latin typeface="IBM Plex Sans" pitchFamily="34" charset="0"/>
                          <a:ea typeface="IBM Plex Sans" pitchFamily="34" charset="-122"/>
                          <a:cs typeface="IBM Plex Sans" pitchFamily="34" charset="-120"/>
                        </a:rPr>
                        <a:t>Export licence evidence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indent="0" marL="0">
                        <a:lnSpc>
                          <a:spcPts val="1960"/>
                        </a:lnSpc>
                        <a:buNone/>
                      </a:pPr>
                      <a:r>
                        <a:rPr lang="en-US" sz="1400" dirty="0">
                          <a:solidFill>
                            <a:srgbClr val="14212B"/>
                          </a:solidFill>
                          <a:latin typeface="IBM Plex Sans" pitchFamily="34" charset="0"/>
                          <a:ea typeface="IBM Plex Sans" pitchFamily="34" charset="-122"/>
                          <a:cs typeface="IBM Plex Sans" pitchFamily="34" charset="-120"/>
                        </a:rPr>
                        <a:t>Ledger (hash)</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indent="0" marL="0">
                        <a:lnSpc>
                          <a:spcPts val="1960"/>
                        </a:lnSpc>
                        <a:buNone/>
                      </a:pPr>
                      <a:r>
                        <a:rPr lang="en-US" sz="1400" dirty="0">
                          <a:solidFill>
                            <a:srgbClr val="14212B"/>
                          </a:solidFill>
                          <a:latin typeface="IBM Plex Sans" pitchFamily="34" charset="0"/>
                          <a:ea typeface="IBM Plex Sans" pitchFamily="34" charset="-122"/>
                          <a:cs typeface="IBM Plex Sans" pitchFamily="34" charset="-120"/>
                        </a:rPr>
                        <a:t>Proves a licence existed at ship time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r>
              <a:tr h="385961">
                <a:tc>
                  <a:txBody>
                    <a:bodyPr/>
                    <a:lstStyle/>
                    <a:p>
                      <a:pPr indent="0" marL="0">
                        <a:lnSpc>
                          <a:spcPts val="1960"/>
                        </a:lnSpc>
                        <a:buNone/>
                      </a:pPr>
                      <a:r>
                        <a:rPr lang="en-US" sz="1400" dirty="0">
                          <a:solidFill>
                            <a:srgbClr val="14212B"/>
                          </a:solidFill>
                          <a:latin typeface="IBM Plex Sans" pitchFamily="34" charset="0"/>
                          <a:ea typeface="IBM Plex Sans" pitchFamily="34" charset="-122"/>
                          <a:cs typeface="IBM Plex Sans" pitchFamily="34" charset="-120"/>
                        </a:rPr>
                        <a:t>Orders, prices, capacity</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indent="0" marL="0">
                        <a:lnSpc>
                          <a:spcPts val="1960"/>
                        </a:lnSpc>
                        <a:buNone/>
                      </a:pPr>
                      <a:r>
                        <a:rPr lang="en-US" sz="1400" dirty="0">
                          <a:solidFill>
                            <a:srgbClr val="14212B"/>
                          </a:solidFill>
                          <a:latin typeface="IBM Plex Sans" pitchFamily="34" charset="0"/>
                          <a:ea typeface="IBM Plex Sans" pitchFamily="34" charset="-122"/>
                          <a:cs typeface="IBM Plex Sans" pitchFamily="34" charset="-120"/>
                        </a:rPr>
                        <a:t>Database only</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c>
                  <a:txBody>
                    <a:bodyPr/>
                    <a:lstStyle/>
                    <a:p>
                      <a:pPr indent="0" marL="0">
                        <a:lnSpc>
                          <a:spcPts val="1960"/>
                        </a:lnSpc>
                        <a:buNone/>
                      </a:pPr>
                      <a:r>
                        <a:rPr lang="en-US" sz="1400" dirty="0">
                          <a:solidFill>
                            <a:srgbClr val="14212B"/>
                          </a:solidFill>
                          <a:latin typeface="IBM Plex Sans" pitchFamily="34" charset="0"/>
                          <a:ea typeface="IBM Plex Sans" pitchFamily="34" charset="-122"/>
                          <a:cs typeface="IBM Plex Sans" pitchFamily="34" charset="-120"/>
                        </a:rPr>
                        <a:t>Commercially sensitive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C2BFB8"/>
                      </a:solidFill>
                      <a:prstDash val="solid"/>
                      <a:round/>
                      <a:headEnd type="none" w="med" len="med"/>
                      <a:tailEnd type="none" w="med" len="med"/>
                    </a:lnL>
                    <a:lnR w="12700" cap="flat" cmpd="sng" algn="ctr">
                      <a:solidFill>
                        <a:srgbClr val="C2BFB8"/>
                      </a:solidFill>
                      <a:prstDash val="solid"/>
                      <a:round/>
                      <a:headEnd type="none" w="med" len="med"/>
                      <a:tailEnd type="none" w="med" len="med"/>
                    </a:lnR>
                    <a:lnT w="12700" cap="flat" cmpd="sng" algn="ctr">
                      <a:solidFill>
                        <a:srgbClr val="C2BFB8"/>
                      </a:solidFill>
                      <a:prstDash val="solid"/>
                      <a:round/>
                      <a:headEnd type="none" w="med" len="med"/>
                      <a:tailEnd type="none" w="med" len="med"/>
                    </a:lnT>
                    <a:lnB w="12700" cap="flat" cmpd="sng" algn="ctr">
                      <a:solidFill>
                        <a:srgbClr val="C2BFB8"/>
                      </a:solidFill>
                      <a:prstDash val="solid"/>
                      <a:round/>
                      <a:headEnd type="none" w="med" len="med"/>
                      <a:tailEnd type="none" w="med" len="med"/>
                    </a:lnB>
                  </a:tcPr>
                </a:tc>
              </a:tr>
            </a:tbl>
          </a:graphicData>
        </a:graphic>
      </p:graphicFrame>
      <p:sp>
        <p:nvSpPr>
          <p:cNvPr id="5" name="Text 2"/>
          <p:cNvSpPr/>
          <p:nvPr/>
        </p:nvSpPr>
        <p:spPr>
          <a:xfrm>
            <a:off x="812800" y="6238280"/>
            <a:ext cx="353198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A7179"/>
                </a:solidFill>
                <a:latin typeface="IBM Plex Sans" pitchFamily="34" charset="0"/>
                <a:ea typeface="IBM Plex Sans" pitchFamily="34" charset="-122"/>
                <a:cs typeface="IBM Plex Sans" pitchFamily="34" charset="-120"/>
              </a:rPr>
              <a:t>Proposed design, not yet implemented · 18</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F1B26"/>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E9A23B"/>
                </a:solidFill>
                <a:latin typeface="IBM Plex Sans" pitchFamily="34" charset="0"/>
                <a:ea typeface="IBM Plex Sans" pitchFamily="34" charset="-122"/>
                <a:cs typeface="IBM Plex Sans" pitchFamily="34" charset="-120"/>
              </a:rPr>
              <a:t>ROADMAP AND HONEST LIMITS</a:t>
            </a:r>
            <a:endParaRPr lang="en-US" sz="1200" dirty="0"/>
          </a:p>
        </p:txBody>
      </p:sp>
      <p:sp>
        <p:nvSpPr>
          <p:cNvPr id="3" name="Text 1"/>
          <p:cNvSpPr/>
          <p:nvPr>
            <p:ph type="title"/>
          </p:nvPr>
        </p:nvSpPr>
        <p:spPr>
          <a:xfrm>
            <a:off x="812800" y="13309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3EFE6"/>
                </a:solidFill>
                <a:latin typeface="Space Grotesk" pitchFamily="34" charset="0"/>
                <a:ea typeface="Space Grotesk" pitchFamily="34" charset="-122"/>
                <a:cs typeface="Space Grotesk" pitchFamily="34" charset="-120"/>
              </a:rPr>
              <a:t>Built, next, and not solved</a:t>
            </a:r>
            <a:endParaRPr lang="en-US" sz="3600" dirty="0"/>
          </a:p>
        </p:txBody>
      </p:sp>
      <p:sp>
        <p:nvSpPr>
          <p:cNvPr id="4" name="Shape 2"/>
          <p:cNvSpPr/>
          <p:nvPr/>
        </p:nvSpPr>
        <p:spPr>
          <a:xfrm>
            <a:off x="812800" y="2138561"/>
            <a:ext cx="3420467" cy="1597422"/>
          </a:xfrm>
          <a:prstGeom prst="roundRect">
            <a:avLst>
              <a:gd name="adj" fmla="val 6360"/>
            </a:avLst>
          </a:prstGeom>
          <a:solidFill>
            <a:srgbClr val="183041"/>
          </a:solidFill>
          <a:ln/>
        </p:spPr>
      </p:sp>
      <p:sp>
        <p:nvSpPr>
          <p:cNvPr id="5" name="Text 3"/>
          <p:cNvSpPr/>
          <p:nvPr/>
        </p:nvSpPr>
        <p:spPr>
          <a:xfrm>
            <a:off x="1041400" y="2367161"/>
            <a:ext cx="3052165"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4CC3B0"/>
                </a:solidFill>
                <a:latin typeface="IBM Plex Sans" pitchFamily="34" charset="0"/>
                <a:ea typeface="IBM Plex Sans" pitchFamily="34" charset="-122"/>
                <a:cs typeface="IBM Plex Sans" pitchFamily="34" charset="-120"/>
              </a:rPr>
              <a:t>Built</a:t>
            </a:r>
            <a:endParaRPr lang="en-US" sz="2000" dirty="0"/>
          </a:p>
        </p:txBody>
      </p:sp>
      <p:sp>
        <p:nvSpPr>
          <p:cNvPr id="6" name="Text 4"/>
          <p:cNvSpPr/>
          <p:nvPr/>
        </p:nvSpPr>
        <p:spPr>
          <a:xfrm>
            <a:off x="1041400" y="2760861"/>
            <a:ext cx="3052165" cy="771922"/>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8C4CE"/>
                </a:solidFill>
                <a:latin typeface="IBM Plex Sans" pitchFamily="34" charset="0"/>
                <a:ea typeface="IBM Plex Sans" pitchFamily="34" charset="-122"/>
                <a:cs typeface="IBM Plex Sans" pitchFamily="34" charset="-120"/>
              </a:rPr>
              <a:t>Solver, verifier, compliance gate, approvals, hash-chained audit, API, console, 86 tests.</a:t>
            </a:r>
            <a:endParaRPr lang="en-US" sz="1400" dirty="0"/>
          </a:p>
        </p:txBody>
      </p:sp>
      <p:sp>
        <p:nvSpPr>
          <p:cNvPr id="7" name="Shape 5"/>
          <p:cNvSpPr/>
          <p:nvPr/>
        </p:nvSpPr>
        <p:spPr>
          <a:xfrm>
            <a:off x="4385667" y="2138561"/>
            <a:ext cx="3420566" cy="1597422"/>
          </a:xfrm>
          <a:prstGeom prst="roundRect">
            <a:avLst>
              <a:gd name="adj" fmla="val 6360"/>
            </a:avLst>
          </a:prstGeom>
          <a:solidFill>
            <a:srgbClr val="183041"/>
          </a:solidFill>
          <a:ln/>
        </p:spPr>
      </p:sp>
      <p:sp>
        <p:nvSpPr>
          <p:cNvPr id="8" name="Text 6"/>
          <p:cNvSpPr/>
          <p:nvPr/>
        </p:nvSpPr>
        <p:spPr>
          <a:xfrm>
            <a:off x="4614267" y="2367161"/>
            <a:ext cx="3052267"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E9A23B"/>
                </a:solidFill>
                <a:latin typeface="IBM Plex Sans" pitchFamily="34" charset="0"/>
                <a:ea typeface="IBM Plex Sans" pitchFamily="34" charset="-122"/>
                <a:cs typeface="IBM Plex Sans" pitchFamily="34" charset="-120"/>
              </a:rPr>
              <a:t>Next</a:t>
            </a:r>
            <a:endParaRPr lang="en-US" sz="2000" dirty="0"/>
          </a:p>
        </p:txBody>
      </p:sp>
      <p:sp>
        <p:nvSpPr>
          <p:cNvPr id="9" name="Text 7"/>
          <p:cNvSpPr/>
          <p:nvPr/>
        </p:nvSpPr>
        <p:spPr>
          <a:xfrm>
            <a:off x="4614267" y="2760861"/>
            <a:ext cx="3052267" cy="771922"/>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8C4CE"/>
                </a:solidFill>
                <a:latin typeface="IBM Plex Sans" pitchFamily="34" charset="0"/>
                <a:ea typeface="IBM Plex Sans" pitchFamily="34" charset="-122"/>
                <a:cs typeface="IBM Plex Sans" pitchFamily="34" charset="-120"/>
              </a:rPr>
              <a:t>Ledger anchoring, SSO, job queue, SAP and EDI adapters, tier-2 data feeds, iteration-loop module.</a:t>
            </a:r>
            <a:endParaRPr lang="en-US" sz="1400" dirty="0"/>
          </a:p>
        </p:txBody>
      </p:sp>
      <p:sp>
        <p:nvSpPr>
          <p:cNvPr id="10" name="Shape 8"/>
          <p:cNvSpPr/>
          <p:nvPr/>
        </p:nvSpPr>
        <p:spPr>
          <a:xfrm>
            <a:off x="7958634" y="2138561"/>
            <a:ext cx="3420566" cy="1597422"/>
          </a:xfrm>
          <a:prstGeom prst="roundRect">
            <a:avLst>
              <a:gd name="adj" fmla="val 6360"/>
            </a:avLst>
          </a:prstGeom>
          <a:solidFill>
            <a:srgbClr val="183041"/>
          </a:solidFill>
          <a:ln/>
        </p:spPr>
      </p:sp>
      <p:sp>
        <p:nvSpPr>
          <p:cNvPr id="11" name="Text 9"/>
          <p:cNvSpPr/>
          <p:nvPr/>
        </p:nvSpPr>
        <p:spPr>
          <a:xfrm>
            <a:off x="8187234" y="2367161"/>
            <a:ext cx="3052267"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F3EFE6"/>
                </a:solidFill>
                <a:latin typeface="IBM Plex Sans" pitchFamily="34" charset="0"/>
                <a:ea typeface="IBM Plex Sans" pitchFamily="34" charset="-122"/>
                <a:cs typeface="IBM Plex Sans" pitchFamily="34" charset="-120"/>
              </a:rPr>
              <a:t>Not solved</a:t>
            </a:r>
            <a:endParaRPr lang="en-US" sz="2000" dirty="0"/>
          </a:p>
        </p:txBody>
      </p:sp>
      <p:sp>
        <p:nvSpPr>
          <p:cNvPr id="12" name="Text 10"/>
          <p:cNvSpPr/>
          <p:nvPr/>
        </p:nvSpPr>
        <p:spPr>
          <a:xfrm>
            <a:off x="8187234" y="2760861"/>
            <a:ext cx="3052267" cy="771922"/>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8C4CE"/>
                </a:solidFill>
                <a:latin typeface="IBM Plex Sans" pitchFamily="34" charset="0"/>
                <a:ea typeface="IBM Plex Sans" pitchFamily="34" charset="-122"/>
                <a:cs typeface="IBM Plex Sans" pitchFamily="34" charset="-120"/>
              </a:rPr>
              <a:t>Bad inputs stay bad: a ledger records a false claim as faithfully as a true one. Lot genealogy is not modelled.</a:t>
            </a:r>
            <a:endParaRPr lang="en-US" sz="1400" dirty="0"/>
          </a:p>
        </p:txBody>
      </p:sp>
      <p:sp>
        <p:nvSpPr>
          <p:cNvPr id="13" name="Text 11"/>
          <p:cNvSpPr/>
          <p:nvPr/>
        </p:nvSpPr>
        <p:spPr>
          <a:xfrm>
            <a:off x="812800" y="6238280"/>
            <a:ext cx="425934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FA0AD"/>
                </a:solidFill>
                <a:latin typeface="IBM Plex Sans" pitchFamily="34" charset="0"/>
                <a:ea typeface="IBM Plex Sans" pitchFamily="34" charset="-122"/>
                <a:cs typeface="IBM Plex Sans" pitchFamily="34" charset="-120"/>
              </a:rPr>
              <a:t>Source: docs/ARCHITECTURE.md, known limits · 19</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E9A23B"/>
        </a:solidFill>
      </p:bgPr>
    </p:bg>
    <p:spTree>
      <p:nvGrpSpPr>
        <p:cNvPr id="1" name=""/>
        <p:cNvGrpSpPr/>
        <p:nvPr/>
      </p:nvGrpSpPr>
      <p:grpSpPr>
        <a:xfrm>
          <a:off x="0" y="0"/>
          <a:ext cx="0" cy="0"/>
          <a:chOff x="0" y="0"/>
          <a:chExt cx="0" cy="0"/>
        </a:xfrm>
      </p:grpSpPr>
      <p:sp>
        <p:nvSpPr>
          <p:cNvPr id="2" name="Text 0"/>
          <p:cNvSpPr/>
          <p:nvPr/>
        </p:nvSpPr>
        <p:spPr>
          <a:xfrm>
            <a:off x="812800" y="1795859"/>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14212B"/>
                </a:solidFill>
                <a:latin typeface="IBM Plex Sans" pitchFamily="34" charset="0"/>
                <a:ea typeface="IBM Plex Sans" pitchFamily="34" charset="-122"/>
                <a:cs typeface="IBM Plex Sans" pitchFamily="34" charset="-120"/>
              </a:rPr>
              <a:t>WHY A STARTUP, NOT A FEATURE IN SAP</a:t>
            </a:r>
            <a:endParaRPr lang="en-US" sz="1200" dirty="0"/>
          </a:p>
        </p:txBody>
      </p:sp>
      <p:sp>
        <p:nvSpPr>
          <p:cNvPr id="3" name="Text 1"/>
          <p:cNvSpPr/>
          <p:nvPr>
            <p:ph type="title"/>
          </p:nvPr>
        </p:nvSpPr>
        <p:spPr>
          <a:xfrm>
            <a:off x="812800" y="2313980"/>
            <a:ext cx="10883392" cy="1945580"/>
          </a:xfrm>
          <a:prstGeom prst="rect">
            <a:avLst/>
          </a:prstGeom>
          <a:noFill/>
          <a:ln/>
        </p:spPr>
        <p:txBody>
          <a:bodyPr wrap="square" lIns="0" tIns="0" rIns="0" bIns="0" rtlCol="0" anchor="t">
            <a:normAutofit/>
          </a:bodyPr>
          <a:lstStyle/>
          <a:p>
            <a:pPr algn="l" indent="0" marL="0">
              <a:lnSpc>
                <a:spcPts val="5040"/>
              </a:lnSpc>
              <a:buNone/>
            </a:pPr>
            <a:r>
              <a:rPr lang="en-US" sz="4800" b="1" i="0" dirty="0">
                <a:solidFill>
                  <a:srgbClr val="14212B"/>
                </a:solidFill>
                <a:latin typeface="Space Grotesk" pitchFamily="34" charset="0"/>
                <a:ea typeface="Space Grotesk" pitchFamily="34" charset="-122"/>
                <a:cs typeface="Space Grotesk" pitchFamily="34" charset="-120"/>
              </a:rPr>
              <a:t>Supply chain 2.0 for chips needs deep wafer, packaging and compliance knowledge.</a:t>
            </a:r>
            <a:endParaRPr lang="en-US" sz="4800" dirty="0"/>
          </a:p>
        </p:txBody>
      </p:sp>
      <p:sp>
        <p:nvSpPr>
          <p:cNvPr id="4" name="Text 2"/>
          <p:cNvSpPr/>
          <p:nvPr/>
        </p:nvSpPr>
        <p:spPr>
          <a:xfrm>
            <a:off x="812800" y="4538960"/>
            <a:ext cx="10883392" cy="34538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14212B"/>
                </a:solidFill>
                <a:latin typeface="IBM Plex Sans" pitchFamily="34" charset="0"/>
                <a:ea typeface="IBM Plex Sans" pitchFamily="34" charset="-122"/>
                <a:cs typeface="IBM Plex Sans" pitchFamily="34" charset="-120"/>
              </a:rPr>
              <a:t>Design partners wanted: a fab, an OSAT or an OEM with one real shortage to replay.</a:t>
            </a:r>
            <a:endParaRPr lang="en-US" sz="1800" dirty="0"/>
          </a:p>
        </p:txBody>
      </p:sp>
      <p:sp>
        <p:nvSpPr>
          <p:cNvPr id="5" name="Text 3"/>
          <p:cNvSpPr/>
          <p:nvPr/>
        </p:nvSpPr>
        <p:spPr>
          <a:xfrm>
            <a:off x="812800" y="6238280"/>
            <a:ext cx="23375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4212B"/>
                </a:solidFill>
                <a:latin typeface="IBM Plex Sans" pitchFamily="34" charset="0"/>
                <a:ea typeface="IBM Plex Sans" pitchFamily="34" charset="-122"/>
                <a:cs typeface="IBM Plex Sans" pitchFamily="34" charset="-120"/>
              </a:rPr>
              <a:t>20</a:t>
            </a:r>
            <a:endParaRPr lang="en-US" sz="1200" dirty="0"/>
          </a:p>
        </p:txBody>
      </p:sp>
    </p:spTree>
  </p:cSld>
  <p:clrMapOvr>
    <a:masterClrMapping/>
  </p:clrMapOvr>
</p:sld>
</file>

<file path=ppt/theme/theme1.xml><?xml version="1.0" encoding="utf-8"?>
<a:theme xmlns:a="http://schemas.openxmlformats.org/drawingml/2006/main" name="SiliconFlow: Problem to Platform">
  <a:themeElements>
    <a:clrScheme name="SiliconFlow: Problem to Platform">
      <a:dk1>
        <a:srgbClr val="0F1B26"/>
      </a:dk1>
      <a:lt1>
        <a:srgbClr val="F3EFE6"/>
      </a:lt1>
      <a:dk2>
        <a:srgbClr val="263039"/>
      </a:dk2>
      <a:lt2>
        <a:srgbClr val="BABAB6"/>
      </a:lt2>
      <a:accent1>
        <a:srgbClr val="E9A23B"/>
      </a:accent1>
      <a:accent2>
        <a:srgbClr val="183041"/>
      </a:accent2>
      <a:accent3>
        <a:srgbClr val="9A5B08"/>
      </a:accent3>
      <a:accent4>
        <a:srgbClr val="4CC3B0"/>
      </a:accent4>
      <a:accent5>
        <a:srgbClr val="1E7F72"/>
      </a:accent5>
      <a:accent6>
        <a:srgbClr val="B8C4CE"/>
      </a:accent6>
      <a:hlink>
        <a:srgbClr val="0563C1"/>
      </a:hlink>
      <a:folHlink>
        <a:srgbClr val="954F72"/>
      </a:folHlink>
    </a:clrScheme>
    <a:fontScheme name="SiliconFlow: Problem to Platform">
      <a:majorFont>
        <a:latin typeface="Space Grotesk"/>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SiliconFlow: Problem to Platform</dc:title>
  <dc:subject/>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Space Grotesk
Copyright 2020 The Space Grotesk Project Authors (https://github.com/floriankarsten/space-grotesk)
This Font Software is licensed under the SIL Open Font License, Version 1.1.
This license is copied below, and is also available with a FAQ at:
http://scripts.sil.org/OFL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dc:creator/>
  <cp:lastModifiedBy/>
  <cp:revision>1</cp:revision>
  <dcterms:created xsi:type="dcterms:W3CDTF">2026-10-24T11:03:37Z</dcterms:created>
  <dcterms:modified xsi:type="dcterms:W3CDTF">2026-10-24T11:03:37Z</dcterms:modified>
</cp:coreProperties>
</file>